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Powered</a:t>
            </a:r>
          </a:p>
          <a:p/>
          <a:p>
            <a:r>
              <a:t>Xem Demo</a:t>
            </a:r>
          </a:p>
          <a:p/>
          <a:p>
            <a:r>
              <a:t>Quillora</a:t>
            </a:r>
          </a:p>
          <a:p/>
          <a:p>
            <a:r>
              <a:t>Nền tảng đọc sách</a:t>
            </a:r>
          </a:p>
          <a:p>
            <a:r>
              <a:t>thông minh</a:t>
            </a:r>
          </a:p>
          <a:p/>
          <a:p>
            <a:r>
              <a:t>Ứng dụng AI (RAG) cho sinh viên PTIT</a:t>
            </a:r>
          </a:p>
          <a:p/>
          <a:p>
            <a:r>
              <a:t>"Biến mỗi cuốn sách thành trợ lý học tập cá nhân"</a:t>
            </a:r>
          </a:p>
          <a:p/>
          <a:p>
            <a:r>
              <a:t>AI Assistant</a:t>
            </a:r>
          </a:p>
          <a:p>
            <a:r>
              <a:t>RAG Technology</a:t>
            </a:r>
          </a:p>
          <a:p>
            <a:r>
              <a:t>Smart Learning</a:t>
            </a:r>
          </a:p>
          <a:p>
            <a:r>
              <a:t>Interactive</a:t>
            </a:r>
          </a:p>
          <a:p/>
          <a:p>
            <a:r>
              <a:t>Sự kiện</a:t>
            </a:r>
          </a:p>
          <a:p/>
          <a:p>
            <a:r>
              <a:t>Ngày hội Đọc sách PTIT 2026</a:t>
            </a:r>
          </a:p>
          <a:p/>
          <a:p>
            <a:r>
              <a:t>Đối tượng</a:t>
            </a:r>
          </a:p>
          <a:p/>
          <a:p>
            <a:r>
              <a:t>Sinh viên PTIT</a:t>
            </a:r>
          </a:p>
          <a:p/>
          <a:p>
            <a:r>
              <a:t>Nền tảng</a:t>
            </a:r>
          </a:p>
          <a:p/>
          <a:p>
            <a:r>
              <a:t>Web Application</a:t>
            </a:r>
          </a:p>
          <a:p/>
          <a:p>
            <a:r>
              <a:t>Quillora Team • PTIT • 2026</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Vấn đề thực tiễn</a:t>
            </a:r>
          </a:p>
          <a:p/>
          <a:p>
            <a:r>
              <a:t>Thực trạng đọc sách tại Việt Nam và thách thức cho sinh viên</a:t>
            </a:r>
          </a:p>
          <a:p/>
          <a:p>
            <a:r>
              <a:t>Ngày hội Đọc sách PTIT 2026</a:t>
            </a:r>
          </a:p>
          <a:p/>
          <a:p>
            <a:r>
              <a:t>1.2</a:t>
            </a:r>
          </a:p>
          <a:p/>
          <a:p>
            <a:r>
              <a:t>cuốn sách tự chọn/người/năm</a:t>
            </a:r>
          </a:p>
          <a:p/>
          <a:p>
            <a:r>
              <a:t>Giảm 15% so với năm trước</a:t>
            </a:r>
          </a:p>
          <a:p/>
          <a:p>
            <a:r>
              <a:t>Tỷ lệ đọc sách thấp hơn trung bình châu Á</a:t>
            </a:r>
          </a:p>
          <a:p/>
          <a:p>
            <a:r>
              <a:t>79%</a:t>
            </a:r>
          </a:p>
          <a:p/>
          <a:p>
            <a:r>
              <a:t>Quên kiến thức sau 31 ngày</a:t>
            </a:r>
          </a:p>
          <a:p/>
          <a:p>
            <a:r>
              <a:t>15 phút</a:t>
            </a:r>
          </a:p>
          <a:p/>
          <a:p>
            <a:r>
              <a:t>Thời gian đọc/ngày</a:t>
            </a:r>
          </a:p>
          <a:p/>
          <a:p>
            <a:r>
              <a:t>Insight về sinh viên PTIT</a:t>
            </a:r>
          </a:p>
          <a:p/>
          <a:p>
            <a:r>
              <a:t>Giáo trình dày, thuật ngữ phức tạp: Sinh viên kỹ thuật đối mặt với tài liệu chuyên ngành khó tiếp cận, thiếu công cụ tra cứu chủ động.</a:t>
            </a:r>
          </a:p>
          <a:p/>
          <a:p>
            <a:r>
              <a:t>Thiếu tính tương tác: Nội dung dài, khô khan, dễ bỏ dở, không có công cụ tóm tắt thông minh.</a:t>
            </a:r>
          </a:p>
          <a:p/>
          <a:p>
            <a:r>
              <a:t>Ghi nhớ kém: Theo đường cong lãng quên Ebbinghaus, sinh viên quên 79% kiến thức sau 31 ngày nếu không ôn tập.</a:t>
            </a:r>
          </a:p>
          <a:p/>
          <a:p>
            <a:r>
              <a:t>Ôn tập rời rạc: Thiếu quiz/flashcard để chủ động nhớ lâu, không có hệ thống ôn tập khoa học.</a:t>
            </a:r>
          </a:p>
          <a:p/>
          <a:p>
            <a:r>
              <a:t>Tỷ lệ đọc sách theo nhóm tuổi</a:t>
            </a:r>
          </a:p>
          <a:p/>
          <a:p>
            <a:r>
              <a:t>18-25 tuổi: 15%</a:t>
            </a:r>
          </a:p>
          <a:p/>
          <a:p>
            <a:r>
              <a:t>18-25</a:t>
            </a:r>
          </a:p>
          <a:p/>
          <a:p>
            <a:r>
              <a:t>26-35</a:t>
            </a:r>
          </a:p>
          <a:p/>
          <a:p>
            <a:r>
              <a:t>36-45</a:t>
            </a:r>
          </a:p>
          <a:p/>
          <a:p>
            <a:r>
              <a:t>46-55</a:t>
            </a:r>
          </a:p>
          <a:p/>
          <a:p>
            <a:r>
              <a:t>55+</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Thách thức của sinh viên kỹ thuật PTIT</a:t>
            </a:r>
          </a:p>
          <a:p/>
          <a:p>
            <a:r>
              <a:t>5 rào cản lớn trong việc tiếp cận và ghi nhớ kiến thức</a:t>
            </a:r>
          </a:p>
          <a:p/>
          <a:p>
            <a:r>
              <a:t>Ngày hội Đọc sách PTIT 2026</a:t>
            </a:r>
          </a:p>
          <a:p/>
          <a:p>
            <a:r>
              <a:t>Giáo trình dày</a:t>
            </a:r>
          </a:p>
          <a:p/>
          <a:p>
            <a:r>
              <a:t>Tài liệu chuyên ngành dày dặn, thuật ngữ phức tạp, khó tiếp cận và nắm bắt nội dung chính.</a:t>
            </a:r>
          </a:p>
          <a:p/>
          <a:p>
            <a:r>
              <a:t>Độ khó</a:t>
            </a:r>
          </a:p>
          <a:p/>
          <a:p>
            <a:r>
              <a:t>Cao</a:t>
            </a:r>
          </a:p>
          <a:p/>
          <a:p>
            <a:r>
              <a:t>Thiếu tra cứu ngữ nghĩa</a:t>
            </a:r>
          </a:p>
          <a:p/>
          <a:p>
            <a:r>
              <a:t>Khó tìm đúng đoạn văn cần, thiếu công cụ tra cứu theo ngữ cảnh chính xác.</a:t>
            </a:r>
          </a:p>
          <a:p/>
          <a:p>
            <a:r>
              <a:t>Hiệu quả</a:t>
            </a:r>
          </a:p>
          <a:p/>
          <a:p>
            <a:r>
              <a:t>Thấp</a:t>
            </a:r>
          </a:p>
          <a:p/>
          <a:p>
            <a:r>
              <a:t>Ghi nhớ kém</a:t>
            </a:r>
          </a:p>
          <a:p/>
          <a:p>
            <a:r>
              <a:t>Quên 79% kiến thức sau 31 ngày theo đường cong lãng quên Ebbinghaus.</a:t>
            </a:r>
          </a:p>
          <a:p/>
          <a:p>
            <a:r>
              <a:t>Tỷ lệ</a:t>
            </a:r>
          </a:p>
          <a:p/>
          <a:p>
            <a:r>
              <a:t>79%</a:t>
            </a:r>
          </a:p>
          <a:p/>
          <a:p>
            <a:r>
              <a:t>Ôn tập rời rạc</a:t>
            </a:r>
          </a:p>
          <a:p/>
          <a:p>
            <a:r>
              <a:t>Thiếu quiz/flashcard để chủ động ôn tập, không có hệ thống ôn tập khoa học.</a:t>
            </a:r>
          </a:p>
          <a:p/>
          <a:p>
            <a:r>
              <a:t>Tần suất</a:t>
            </a:r>
          </a:p>
          <a:p/>
          <a:p>
            <a:r>
              <a:t>Rời rạc</a:t>
            </a:r>
          </a:p>
          <a:p/>
          <a:p>
            <a:r>
              <a:t>Nguồn tài liệu phân mảnh</a:t>
            </a:r>
          </a:p>
          <a:p/>
          <a:p>
            <a:r>
              <a:t>Tài liệu phân tán khó tổng hợp kiến thức từ nhiều nguồn khác nhau.</a:t>
            </a:r>
          </a:p>
          <a:p/>
          <a:p>
            <a:r>
              <a:t>Tích hợp</a:t>
            </a:r>
          </a:p>
          <a:p/>
          <a:p>
            <a:r>
              <a:t>Kém</a:t>
            </a:r>
          </a:p>
          <a:p/>
          <a:p>
            <a:r>
              <a:t>Thời gian hạn chế</a:t>
            </a:r>
          </a:p>
          <a:p/>
          <a:p>
            <a:r>
              <a:t>Chỉ 15 phút đọc sách/ngày, không đủ để nắm bắt kiến thức sâu.</a:t>
            </a:r>
          </a:p>
          <a:p/>
          <a:p>
            <a:r>
              <a:t>Thời gian</a:t>
            </a:r>
          </a:p>
          <a:p/>
          <a:p>
            <a:r>
              <a:t>15 phút</a:t>
            </a:r>
          </a:p>
          <a:p/>
          <a:p>
            <a:r>
              <a:t>Giải pháp AI</a:t>
            </a:r>
          </a:p>
          <a:p/>
          <a:p>
            <a:r>
              <a:t>Ứng dụng RAG để trích dẫn chính xác từ nội dung sách</a:t>
            </a:r>
          </a:p>
          <a:p/>
          <a:p>
            <a:r>
              <a:t>Đối tượng</a:t>
            </a:r>
          </a:p>
          <a:p/>
          <a:p>
            <a:r>
              <a:t>Sinh viên PTIT và các trường đại học kỹ thuật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Giới thiệu Quillora</a:t>
            </a:r>
          </a:p>
          <a:p/>
          <a:p>
            <a:r>
              <a:t>Nền tảng đọc sách thông minh ứng dụng AI</a:t>
            </a:r>
          </a:p>
          <a:p/>
          <a:p>
            <a:r>
              <a:t>Ngày hội Đọc sách PTIT 2026</a:t>
            </a:r>
          </a:p>
          <a:p/>
          <a:p>
            <a:r>
              <a:t>Quillora là gì?</a:t>
            </a:r>
          </a:p>
          <a:p/>
          <a:p>
            <a:r>
              <a:t>Quillora là nền tảng đọc sách thông minh ứng dụng AI tạo sinh (Generative AI) kết hợp kỹ thuật RAG (Retrieval-Augmented Generation), biến mỗi cuốn sách thành một trợ lý học tập cá nhân thông minh.</a:t>
            </a:r>
          </a:p>
          <a:p/>
          <a:p>
            <a:r>
              <a:t>Định nghĩa &amp; Công nghệ</a:t>
            </a:r>
          </a:p>
          <a:p/>
          <a:p>
            <a:r>
              <a:t>Quillora sử dụng AI + RAG để cung cấp câu trả lời chính xác, có trích dẫn từ nội dung sách, giúp sinh viên tiếp cận kiến thức một cách chủ động và hiệu quả. Hệ thống kết hợp khả năng tìm kiếm ngữ nghĩa thông minh với tạo nội dung AI để mang lại trải nghiệm học tập tối ưu.</a:t>
            </a:r>
          </a:p>
          <a:p/>
          <a:p>
            <a:r>
              <a:t>Trả lời chính xác</a:t>
            </a:r>
          </a:p>
          <a:p/>
          <a:p>
            <a:r>
              <a:t>Có trích dẫn từ chương/trang, giảm thiểu tối đa tình trạng ảo giác AI.</a:t>
            </a:r>
          </a:p>
          <a:p/>
          <a:p>
            <a:r>
              <a:t>Tóm tắt thông minh</a:t>
            </a:r>
          </a:p>
          <a:p/>
          <a:p>
            <a:r>
              <a:t>Tóm tắt nội dung chính ~200 từ, tự động tạo câu hỏi ôn tập &amp; flashcard.</a:t>
            </a:r>
          </a:p>
          <a:p/>
          <a:p>
            <a:r>
              <a:t>Tương tác đa phương thức</a:t>
            </a:r>
          </a:p>
          <a:p/>
          <a:p>
            <a:r>
              <a:t>Hỗ trợ đặt câu hỏi qua văn bản, giọng nói và tìm kiếm ngữ nghĩa nâng cao.</a:t>
            </a:r>
          </a:p>
          <a:p/>
          <a:p>
            <a:r>
              <a:t>"Biến mỗi cuốn sách thành trợ lý học tập cá nhân"</a:t>
            </a:r>
          </a:p>
          <a:p/>
          <a:p>
            <a:r>
              <a:t>AI Assistant</a:t>
            </a:r>
          </a:p>
          <a:p>
            <a:r>
              <a:t>RAG Technology</a:t>
            </a:r>
          </a:p>
          <a:p>
            <a:r>
              <a:t>Smart Learning</a:t>
            </a:r>
          </a:p>
          <a:p>
            <a:r>
              <a:t>Interactive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Công nghệ RAG hoạt động như thế nào?</a:t>
            </a:r>
          </a:p>
          <a:p/>
          <a:p>
            <a:r>
              <a:t>Quy trình 4 bước: Upload → Vector DB → Retrieval → Generation</a:t>
            </a:r>
          </a:p>
          <a:p/>
          <a:p>
            <a:r>
              <a:t>Ngày hội Đọc sách PTIT 2026</a:t>
            </a:r>
          </a:p>
          <a:p/>
          <a:p>
            <a:r>
              <a:t>Quy trình xử lý RAG (Retrieval-Augmented Generation)</a:t>
            </a:r>
          </a:p>
          <a:p/>
          <a:p>
            <a:r>
              <a:t>1</a:t>
            </a:r>
          </a:p>
          <a:p/>
          <a:p>
            <a:r>
              <a:t>Upload tài liệu</a:t>
            </a:r>
          </a:p>
          <a:p/>
          <a:p>
            <a:r>
              <a:t>Hệ thống tiếp nhận tài liệu/sách từ người dùng, hỗ trợ nhiều định dạng file (PDF, DOC, TXT)</a:t>
            </a:r>
          </a:p>
          <a:p/>
          <a:p>
            <a:r>
              <a:t>2</a:t>
            </a:r>
          </a:p>
          <a:p/>
          <a:p>
            <a:r>
              <a:t>Chia nhỏ &amp; Vector DB</a:t>
            </a:r>
          </a:p>
          <a:p/>
          <a:p>
            <a:r>
              <a:t>Chia nhỏ đoạn văn bản, nhúng vector và lưu vào cơ sở dữ liệu vector</a:t>
            </a:r>
          </a:p>
          <a:p/>
          <a:p>
            <a:r>
              <a:t>3</a:t>
            </a:r>
          </a:p>
          <a:p/>
          <a:p>
            <a:r>
              <a:t>Retrieval ngữ nghĩa</a:t>
            </a:r>
          </a:p>
          <a:p/>
          <a:p>
            <a:r>
              <a:t>Truy hồi các đoạn liên quan theo ngữ nghĩa từ cơ sở dữ liệu</a:t>
            </a:r>
          </a:p>
          <a:p/>
          <a:p>
            <a:r>
              <a:t>4</a:t>
            </a:r>
          </a:p>
          <a:p/>
          <a:p>
            <a:r>
              <a:t>Generation</a:t>
            </a:r>
          </a:p>
          <a:p/>
          <a:p>
            <a:r>
              <a:t>Mô hình AI tạo câu trả lời có dẫn nguồn chính xác</a:t>
            </a:r>
          </a:p>
          <a:p/>
          <a:p>
            <a:r>
              <a:t>Kết quả: Câu trả lời chính xác, minh bạch nguồn</a:t>
            </a:r>
          </a:p>
          <a:p/>
          <a:p>
            <a:r>
              <a:t>Hệ thống cung cấp câu trả lời dựa trên nội dung tài liệu, có trích dẫn chương/trang, giảm thiểu ảo giác AI</a:t>
            </a:r>
          </a:p>
          <a:p/>
          <a:p>
            <a:r>
              <a:t>Python</a:t>
            </a:r>
          </a:p>
          <a:p/>
          <a:p>
            <a:r>
              <a:t>FastAPI</a:t>
            </a:r>
          </a:p>
          <a:p/>
          <a:p>
            <a:r>
              <a:t>LangChain</a:t>
            </a:r>
          </a:p>
          <a:p/>
          <a:p>
            <a:r>
              <a:t>Vector DB</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 tính năng AI - Phần 1</a:t>
            </a:r>
          </a:p>
          <a:p/>
          <a:p>
            <a:r>
              <a:t>5 tính năng trọng tâm cho sinh viên PTIT</a:t>
            </a:r>
          </a:p>
          <a:p/>
          <a:p>
            <a:r>
              <a:t>Ngày hội Đọc sách PTIT 2026</a:t>
            </a:r>
          </a:p>
          <a:p/>
          <a:p>
            <a:r>
              <a:t>Hỏi đáp thông minh</a:t>
            </a:r>
          </a:p>
          <a:p/>
          <a:p>
            <a:r>
              <a:t>Trả lời chính xác theo ngữ cảnh, có trích dẫn chương/trang cụ thể từ nội dung sách.</a:t>
            </a:r>
          </a:p>
          <a:p/>
          <a:p>
            <a:r>
              <a:t>Trích dẫn chính xác</a:t>
            </a:r>
          </a:p>
          <a:p/>
          <a:p>
            <a:r>
              <a:t>Chatbot thư viện</a:t>
            </a:r>
          </a:p>
          <a:p/>
          <a:p>
            <a:r>
              <a:t>Hội thoại đa sách, hỗ trợ tra cứu và tìm kiếm thông tin từ nhiều nguồn tài liệu.</a:t>
            </a:r>
          </a:p>
          <a:p/>
          <a:p>
            <a:r>
              <a:t>Đa sách</a:t>
            </a:r>
          </a:p>
          <a:p/>
          <a:p>
            <a:r>
              <a:t>Tóm tắt nội dung</a:t>
            </a:r>
          </a:p>
          <a:p/>
          <a:p>
            <a:r>
              <a:t>Tóm tắt ~200 từ nội dung chính, giúp nắm bắt kiến thức nhanh chóng.</a:t>
            </a:r>
          </a:p>
          <a:p/>
          <a:p>
            <a:r>
              <a:t>~200 từ</a:t>
            </a:r>
          </a:p>
          <a:p/>
          <a:p>
            <a:r>
              <a:t>Quiz trắc nghiệm</a:t>
            </a:r>
          </a:p>
          <a:p/>
          <a:p>
            <a:r>
              <a:t>Tạo câu hỏi trắc nghiệm tự động từ nội dung trọng tâm để ôn tập.</a:t>
            </a:r>
          </a:p>
          <a:p/>
          <a:p>
            <a:r>
              <a:t>Tự động</a:t>
            </a:r>
          </a:p>
          <a:p/>
          <a:p>
            <a:r>
              <a:t>Flashcard ôn tập</a:t>
            </a:r>
          </a:p>
          <a:p/>
          <a:p>
            <a:r>
              <a:t>Tạo thẻ ghi nhớ theo phương pháp Active Recall &amp; Spaced Repetition.</a:t>
            </a:r>
          </a:p>
          <a:p/>
          <a:p>
            <a:r>
              <a:t>Ghi nhớ</a:t>
            </a:r>
          </a:p>
          <a:p/>
          <a:p>
            <a:r>
              <a:t>Hiệu quả học tập</a:t>
            </a:r>
          </a:p>
          <a:p/>
          <a:p>
            <a:r>
              <a:t>+85%</a:t>
            </a:r>
          </a:p>
          <a:p/>
          <a:p>
            <a:r>
              <a:t>Thời gian tiết kiệm</a:t>
            </a:r>
          </a:p>
          <a:p/>
          <a:p>
            <a:r>
              <a:t>-60%</a:t>
            </a:r>
          </a:p>
          <a:p/>
          <a:p>
            <a:r>
              <a:t>Người dùng hài lòng</a:t>
            </a:r>
          </a:p>
          <a:p/>
          <a:p>
            <a:r>
              <a:t>95%</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 Tính năng AI - Phần 2</a:t>
            </a:r>
          </a:p>
          <a:p/>
          <a:p>
            <a:r>
              <a:t>5 tính năng nâng cao cho trải nghiệm học tập thông minh</a:t>
            </a:r>
          </a:p>
          <a:p/>
          <a:p>
            <a:r>
              <a:t>Ngày hội Đọc sách PTIT 2026</a:t>
            </a:r>
          </a:p>
          <a:p/>
          <a:p>
            <a:r>
              <a:t>Minh họa tranh</a:t>
            </a:r>
          </a:p>
          <a:p/>
          <a:p>
            <a:r>
              <a:t>Tạo tranh minh họa phong cách watercolor giúp hình dung khái niệm nhanh chóng.</a:t>
            </a:r>
          </a:p>
          <a:p/>
          <a:p>
            <a:r>
              <a:t>Hoạt động</a:t>
            </a:r>
          </a:p>
          <a:p/>
          <a:p>
            <a:r>
              <a:t>Visual</a:t>
            </a:r>
          </a:p>
          <a:p/>
          <a:p>
            <a:r>
              <a:t>Nhập liệu giọng nói</a:t>
            </a:r>
          </a:p>
          <a:p/>
          <a:p>
            <a:r>
              <a:t>Đọc nội dung/đặt câu hỏi rảnh tay, nhận diện chính xác giọng nói.</a:t>
            </a:r>
          </a:p>
          <a:p/>
          <a:p>
            <a:r>
              <a:t>Sẵn sàng</a:t>
            </a:r>
          </a:p>
          <a:p/>
          <a:p>
            <a:r>
              <a:t>Voice Input</a:t>
            </a:r>
          </a:p>
          <a:p/>
          <a:p>
            <a:r>
              <a:t>Trò chuyện giọng nói</a:t>
            </a:r>
          </a:p>
          <a:p/>
          <a:p>
            <a:r>
              <a:t>Phản hồi nhanh, cảm giác như trợ lý học tập thật sự.</a:t>
            </a:r>
          </a:p>
          <a:p/>
          <a:p>
            <a:r>
              <a:t>Real-time</a:t>
            </a:r>
          </a:p>
          <a:p/>
          <a:p>
            <a:r>
              <a:t>AI Chat</a:t>
            </a:r>
          </a:p>
          <a:p/>
          <a:p>
            <a:r>
              <a:t>Tìm kiếm ngữ nghĩa</a:t>
            </a:r>
          </a:p>
          <a:p/>
          <a:p>
            <a:r>
              <a:t>Tìm theo ý nghĩa thay vì từ khóa, chạm đúng đoạn cần.</a:t>
            </a:r>
          </a:p>
          <a:p/>
          <a:p>
            <a:r>
              <a:t>Active</a:t>
            </a:r>
          </a:p>
          <a:p/>
          <a:p>
            <a:r>
              <a:t>Semantic</a:t>
            </a:r>
          </a:p>
          <a:p/>
          <a:p>
            <a:r>
              <a:t>Lịch sử hội thoại</a:t>
            </a:r>
          </a:p>
          <a:p/>
          <a:p>
            <a:r>
              <a:t>Lưu, gắn nhãn và tiếp tục học từ các phiên trước.</a:t>
            </a:r>
          </a:p>
          <a:p/>
          <a:p>
            <a:r>
              <a:t>Synced</a:t>
            </a:r>
          </a:p>
          <a:p/>
          <a:p>
            <a:r>
              <a:t>Memory</a:t>
            </a:r>
          </a:p>
          <a:p/>
          <a:p>
            <a:r>
              <a:t>Tính năng AI thông minh</a:t>
            </a:r>
          </a:p>
          <a:p/>
          <a:p>
            <a:r>
              <a:t>Tự động tạo nội dung, minh họa và tương tác đa phương thức</a:t>
            </a:r>
          </a:p>
          <a:p/>
          <a:p>
            <a:r>
              <a:t>Trải nghiệm cá nhân hóa</a:t>
            </a:r>
          </a:p>
          <a:p/>
          <a:p>
            <a:r>
              <a:t>Phù hợp với từng nhu cầu học tập của sinh viên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Công nghệ &amp; Kiến trúc</a:t>
            </a:r>
          </a:p>
          <a:p/>
          <a:p>
            <a:r>
              <a:t>Hệ thống AI RAG cho sinh viên PTIT</a:t>
            </a:r>
          </a:p>
          <a:p/>
          <a:p>
            <a:r>
              <a:t>Ngày hội Đọc sách PTIT 2026</a:t>
            </a:r>
          </a:p>
          <a:p/>
          <a:p>
            <a:r>
              <a:t>Frontend</a:t>
            </a:r>
          </a:p>
          <a:p/>
          <a:p>
            <a:r>
              <a:t>Giao diện người dùng</a:t>
            </a:r>
          </a:p>
          <a:p/>
          <a:p>
            <a:r>
              <a:t>React</a:t>
            </a:r>
          </a:p>
          <a:p/>
          <a:p>
            <a:r>
              <a:t>TailwindCSS</a:t>
            </a:r>
          </a:p>
          <a:p/>
          <a:p>
            <a:r>
              <a:t>TypeScript</a:t>
            </a:r>
          </a:p>
          <a:p/>
          <a:p>
            <a:r>
              <a:t>Responsive</a:t>
            </a:r>
          </a:p>
          <a:p/>
          <a:p>
            <a:r>
              <a:t>Backend</a:t>
            </a:r>
          </a:p>
          <a:p/>
          <a:p>
            <a:r>
              <a:t>Xử lý &amp; API</a:t>
            </a:r>
          </a:p>
          <a:p/>
          <a:p>
            <a:r>
              <a:t>Python</a:t>
            </a:r>
          </a:p>
          <a:p/>
          <a:p>
            <a:r>
              <a:t>FastAPI</a:t>
            </a:r>
          </a:p>
          <a:p/>
          <a:p>
            <a:r>
              <a:t>LangChain</a:t>
            </a:r>
          </a:p>
          <a:p/>
          <a:p>
            <a:r>
              <a:t>PostgreSQL</a:t>
            </a:r>
          </a:p>
          <a:p/>
          <a:p>
            <a:r>
              <a:t>AI &amp; Data</a:t>
            </a:r>
          </a:p>
          <a:p/>
          <a:p>
            <a:r>
              <a:t>Xử lý AI &amp; Vector DB</a:t>
            </a:r>
          </a:p>
          <a:p/>
          <a:p>
            <a:r>
              <a:t>OpenAI GPT</a:t>
            </a:r>
          </a:p>
          <a:p/>
          <a:p>
            <a:r>
              <a:t>Vector DB</a:t>
            </a:r>
          </a:p>
          <a:p/>
          <a:p>
            <a:r>
              <a:t>Embeddings</a:t>
            </a:r>
          </a:p>
          <a:p/>
          <a:p>
            <a:r>
              <a:t>Semantic Search</a:t>
            </a:r>
          </a:p>
          <a:p/>
          <a:p>
            <a:r>
              <a:t>Infrastructure</a:t>
            </a:r>
          </a:p>
          <a:p/>
          <a:p>
            <a:r>
              <a:t>Hạ tầng &amp; Bảo mật</a:t>
            </a:r>
          </a:p>
          <a:p/>
          <a:p>
            <a:r>
              <a:t>Azure</a:t>
            </a:r>
          </a:p>
          <a:p/>
          <a:p>
            <a:r>
              <a:t>Auth PTIT</a:t>
            </a:r>
          </a:p>
          <a:p/>
          <a:p>
            <a:r>
              <a:t>JWT</a:t>
            </a:r>
          </a:p>
          <a:p/>
          <a:p>
            <a:r>
              <a:t>SSO</a:t>
            </a:r>
          </a:p>
          <a:p/>
          <a:p>
            <a:r>
              <a:t>Hiệu suất</a:t>
            </a:r>
          </a:p>
          <a:p/>
          <a:p>
            <a:r>
              <a:t>99.9%</a:t>
            </a:r>
          </a:p>
          <a:p/>
          <a:p>
            <a:r>
              <a:t>Thời gian phản hồi</a:t>
            </a:r>
          </a:p>
          <a:p/>
          <a:p>
            <a:r>
              <a:t>&lt; 1s</a:t>
            </a:r>
          </a:p>
          <a:p/>
          <a:p>
            <a:r>
              <a:t>Người dùng</a:t>
            </a:r>
          </a:p>
          <a:p/>
          <a:p>
            <a:r>
              <a:t>1000+</a:t>
            </a:r>
          </a:p>
          <a:p/>
          <a:p>
            <a:r>
              <a:t>Tăng trưởng</a:t>
            </a:r>
          </a:p>
          <a:p/>
          <a:p>
            <a:r>
              <a:t>+25%</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Giá trị khác biệt</a:t>
            </a:r>
          </a:p>
          <a:p/>
          <a:p>
            <a:r>
              <a:t>Tại sao chọn Quillora? 5 điểm độc đáo</a:t>
            </a:r>
          </a:p>
          <a:p/>
          <a:p>
            <a:r>
              <a:t>Ngày hội Đọc sách PTIT 2026</a:t>
            </a:r>
          </a:p>
          <a:p/>
          <a:p>
            <a:r>
              <a:t>Trích dẫn chính xác</a:t>
            </a:r>
          </a:p>
          <a:p/>
          <a:p>
            <a:r>
              <a:t>Câu trả lời kèm nguồn gốc (chương/trang), giảm thiểu tối đa ảo giác AI.</a:t>
            </a:r>
          </a:p>
          <a:p/>
          <a:p>
            <a:r>
              <a:t>Minh bạch nguồn</a:t>
            </a:r>
          </a:p>
          <a:p/>
          <a:p>
            <a:r>
              <a:t>Phương pháp khoa học</a:t>
            </a:r>
          </a:p>
          <a:p/>
          <a:p>
            <a:r>
              <a:t>Active Recall + Spaced Repetition cho nhớ lâu, học chủ động.</a:t>
            </a:r>
          </a:p>
          <a:p/>
          <a:p>
            <a:r>
              <a:t>Khoa học giáo dục</a:t>
            </a:r>
          </a:p>
          <a:p/>
          <a:p>
            <a:r>
              <a:t>Đa phương thức</a:t>
            </a:r>
          </a:p>
          <a:p/>
          <a:p>
            <a:r>
              <a:t>Tương tác văn bản + giọng nói, linh hoạt theo ngữ cảnh sử dụng.</a:t>
            </a:r>
          </a:p>
          <a:p/>
          <a:p>
            <a:r>
              <a:t>Voice &amp; Text</a:t>
            </a:r>
          </a:p>
          <a:p/>
          <a:p>
            <a:r>
              <a:t>Cá nhân hóa</a:t>
            </a:r>
          </a:p>
          <a:p/>
          <a:p>
            <a:r>
              <a:t>Gợi ý tóm tắt/quiz/flashcard theo mục tiêu học của từng sinh viên.</a:t>
            </a:r>
          </a:p>
          <a:p/>
          <a:p>
            <a:r>
              <a:t>Personalized</a:t>
            </a:r>
          </a:p>
          <a:p/>
          <a:p>
            <a:r>
              <a:t>PTIT Native</a:t>
            </a:r>
          </a:p>
          <a:p/>
          <a:p>
            <a:r>
              <a:t>Đăng nhập @stu.ptit.edu.vn, tích hợp hạ tầng PTIT.</a:t>
            </a:r>
          </a:p>
          <a:p/>
          <a:p>
            <a:r>
              <a:t>Native Integration</a:t>
            </a:r>
          </a:p>
          <a:p/>
          <a:p>
            <a:r>
              <a:t>Chính xác 95%+</a:t>
            </a:r>
          </a:p>
          <a:p/>
          <a:p>
            <a:r>
              <a:t>Trích dẫn chính xác từ nội dung sách</a:t>
            </a:r>
          </a:p>
          <a:p/>
          <a:p>
            <a:r>
              <a:t>Tiết kiệm 60%</a:t>
            </a:r>
          </a:p>
          <a:p/>
          <a:p>
            <a:r>
              <a:t>Thời gian học tập</a:t>
            </a:r>
          </a:p>
          <a:p/>
          <a:p>
            <a:r>
              <a:t>1000+ Users</a:t>
            </a:r>
          </a:p>
          <a:p/>
          <a:p>
            <a:r>
              <a:t>Sinh viên PTIT đang sử dụng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Tầm nhìn &amp; Lời kêu gọi</a:t>
            </a:r>
          </a:p>
          <a:p/>
          <a:p>
            <a:r>
              <a:t>Quillora - Nền tảng đọc sách thông minh cho tương lai</a:t>
            </a:r>
          </a:p>
          <a:p/>
          <a:p>
            <a:r>
              <a:t>Ngày hội Đọc sách PTIT 2026</a:t>
            </a:r>
          </a:p>
          <a:p/>
          <a:p>
            <a:r>
              <a:t>Tầm nhìn</a:t>
            </a:r>
          </a:p>
          <a:p/>
          <a:p>
            <a:r>
              <a:t>Mở rộng đến các trường đại học trên toàn quốc</a:t>
            </a:r>
          </a:p>
          <a:p/>
          <a:p>
            <a:r>
              <a:t>Tích hợp doanh nghiệp và tổ chức giáo dục</a:t>
            </a:r>
          </a:p>
          <a:p/>
          <a:p>
            <a:r>
              <a:t>Trở thành nền tảng hàng đầu về đọc sách thông minh</a:t>
            </a:r>
          </a:p>
          <a:p/>
          <a:p>
            <a:r>
              <a:t>Impact</a:t>
            </a:r>
          </a:p>
          <a:p/>
          <a:p>
            <a:r>
              <a:t>85%</a:t>
            </a:r>
          </a:p>
          <a:p/>
          <a:p>
            <a:r>
              <a:t>Tăng ghi nhớ</a:t>
            </a:r>
          </a:p>
          <a:p/>
          <a:p>
            <a:r>
              <a:t>79%</a:t>
            </a:r>
          </a:p>
          <a:p/>
          <a:p>
            <a:r>
              <a:t>Giảm quên</a:t>
            </a:r>
          </a:p>
          <a:p/>
          <a:p>
            <a:r>
              <a:t>60%</a:t>
            </a:r>
          </a:p>
          <a:p/>
          <a:p>
            <a:r>
              <a:t>Tiết kiệm thời gian</a:t>
            </a:r>
          </a:p>
          <a:p/>
          <a:p>
            <a:r>
              <a:t>95%</a:t>
            </a:r>
          </a:p>
          <a:p/>
          <a:p>
            <a:r>
              <a:t>Hài lòng người dùng</a:t>
            </a:r>
          </a:p>
          <a:p/>
          <a:p>
            <a:r>
              <a:t>Tham gia cộng đồng Quillora</a:t>
            </a:r>
          </a:p>
          <a:p/>
          <a:p>
            <a:r>
              <a:t>Trải nghiệm nền tảng đọc sách thông minh, cải thiện thói quen đọc và ghi nhớ hiệu quả cùng hàng ngàn sinh viên khác.</a:t>
            </a:r>
          </a:p>
          <a:p/>
          <a:p>
            <a:r>
              <a:t>Truy cập Quillora</a:t>
            </a:r>
          </a:p>
          <a:p/>
          <a:p>
            <a:r>
              <a:t>Tham gia cộng đồng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10306685" y="333375"/>
            <a:ext cx="1504019" cy="376237"/>
          </a:xfrm>
          <a:prstGeom prst="rect">
            <a:avLst/>
          </a:prstGeom>
          <a:noFill/>
        </p:spPr>
        <p:txBody>
          <a:bodyPr wrap="square" lIns="0" rIns="0" tIns="0" bIns="0"/>
          <a:lstStyle/>
          <a:p>
            <a:pPr algn="l"/>
            <a:r>
              <a:rPr sz="100" b="1">
                <a:solidFill>
                  <a:srgbClr val="FFFFFF"/>
                </a:solidFill>
                <a:latin typeface="Inter"/>
              </a:rPr>
              <a:t>AI Powered</a:t>
            </a:r>
          </a:p>
        </p:txBody>
      </p:sp>
      <p:sp>
        <p:nvSpPr>
          <p:cNvPr id="4" name="TextBox 3"/>
          <p:cNvSpPr txBox="1"/>
          <p:nvPr/>
        </p:nvSpPr>
        <p:spPr>
          <a:xfrm>
            <a:off x="10685071" y="6329362"/>
            <a:ext cx="1108220" cy="242887"/>
          </a:xfrm>
          <a:prstGeom prst="rect">
            <a:avLst/>
          </a:prstGeom>
          <a:noFill/>
        </p:spPr>
        <p:txBody>
          <a:bodyPr wrap="square" lIns="0" rIns="0" tIns="0" bIns="0"/>
          <a:lstStyle/>
          <a:p>
            <a:pPr algn="l"/>
            <a:r>
              <a:rPr sz="100" b="1">
                <a:solidFill>
                  <a:srgbClr val="FFFFFF"/>
                </a:solidFill>
                <a:latin typeface="Inter"/>
              </a:rPr>
              <a:t>Xem Demo</a:t>
            </a:r>
          </a:p>
        </p:txBody>
      </p:sp>
      <p:sp>
        <p:nvSpPr>
          <p:cNvPr id="5" name="TextBox 4"/>
          <p:cNvSpPr txBox="1"/>
          <p:nvPr/>
        </p:nvSpPr>
        <p:spPr>
          <a:xfrm>
            <a:off x="5942484" y="659606"/>
            <a:ext cx="830589" cy="280987"/>
          </a:xfrm>
          <a:prstGeom prst="rect">
            <a:avLst/>
          </a:prstGeom>
          <a:noFill/>
        </p:spPr>
        <p:txBody>
          <a:bodyPr wrap="square" lIns="0" rIns="0" tIns="0" bIns="0"/>
          <a:lstStyle/>
          <a:p>
            <a:pPr algn="ctr"/>
            <a:r>
              <a:rPr sz="100" b="1">
                <a:solidFill>
                  <a:srgbClr val="FFFFFF"/>
                </a:solidFill>
                <a:latin typeface="Inter"/>
              </a:rPr>
              <a:t>Quillora</a:t>
            </a:r>
          </a:p>
        </p:txBody>
      </p:sp>
      <p:sp>
        <p:nvSpPr>
          <p:cNvPr id="6" name="TextBox 5"/>
          <p:cNvSpPr txBox="1"/>
          <p:nvPr/>
        </p:nvSpPr>
        <p:spPr>
          <a:xfrm>
            <a:off x="2773045" y="1457325"/>
            <a:ext cx="6645604" cy="1676400"/>
          </a:xfrm>
          <a:prstGeom prst="rect">
            <a:avLst/>
          </a:prstGeom>
          <a:noFill/>
        </p:spPr>
        <p:txBody>
          <a:bodyPr wrap="square" lIns="0" rIns="0" tIns="0" bIns="0"/>
          <a:lstStyle/>
          <a:p>
            <a:pPr algn="ctr"/>
            <a:r>
              <a:rPr sz="100" b="1">
                <a:solidFill>
                  <a:srgbClr val="FFFFFF"/>
                </a:solidFill>
                <a:latin typeface="Inter"/>
              </a:rPr>
              <a:t>Nền tảng đọc sách</a:t>
            </a:r>
          </a:p>
          <a:p>
            <a:pPr algn="ctr"/>
            <a:r>
              <a:rPr sz="100" b="1">
                <a:solidFill>
                  <a:srgbClr val="FFFFFF"/>
                </a:solidFill>
                <a:latin typeface="Inter"/>
              </a:rPr>
              <a:t>thông minh</a:t>
            </a:r>
          </a:p>
        </p:txBody>
      </p:sp>
      <p:sp>
        <p:nvSpPr>
          <p:cNvPr id="7" name="TextBox 6"/>
          <p:cNvSpPr txBox="1"/>
          <p:nvPr/>
        </p:nvSpPr>
        <p:spPr>
          <a:xfrm>
            <a:off x="3514934" y="3276600"/>
            <a:ext cx="5161751" cy="342900"/>
          </a:xfrm>
          <a:prstGeom prst="rect">
            <a:avLst/>
          </a:prstGeom>
          <a:noFill/>
        </p:spPr>
        <p:txBody>
          <a:bodyPr wrap="square" lIns="0" rIns="0" tIns="0" bIns="0"/>
          <a:lstStyle/>
          <a:p>
            <a:pPr algn="ctr"/>
            <a:r>
              <a:rPr sz="100" b="0">
                <a:solidFill>
                  <a:srgbClr val="FFFFFF"/>
                </a:solidFill>
                <a:latin typeface="Inter"/>
              </a:rPr>
              <a:t>Ứng dụng AI (RAG) cho sinh viên PTIT</a:t>
            </a:r>
          </a:p>
        </p:txBody>
      </p:sp>
      <p:sp>
        <p:nvSpPr>
          <p:cNvPr id="8" name="TextBox 7"/>
          <p:cNvSpPr txBox="1"/>
          <p:nvPr/>
        </p:nvSpPr>
        <p:spPr>
          <a:xfrm>
            <a:off x="2890021" y="3857625"/>
            <a:ext cx="6411652" cy="619125"/>
          </a:xfrm>
          <a:prstGeom prst="rect">
            <a:avLst/>
          </a:prstGeom>
          <a:noFill/>
        </p:spPr>
        <p:txBody>
          <a:bodyPr wrap="square" lIns="0" rIns="0" tIns="0" bIns="0"/>
          <a:lstStyle/>
          <a:p>
            <a:pPr algn="ctr"/>
            <a:r>
              <a:rPr sz="100" b="0">
                <a:solidFill>
                  <a:srgbClr val="FFFFFF"/>
                </a:solidFill>
                <a:latin typeface="Inter"/>
              </a:rPr>
              <a:t>"Biến mỗi cuốn sách thành trợ lý học tập cá nhân"</a:t>
            </a:r>
          </a:p>
        </p:txBody>
      </p:sp>
      <p:sp>
        <p:nvSpPr>
          <p:cNvPr id="9" name="TextBox 8"/>
          <p:cNvSpPr txBox="1"/>
          <p:nvPr/>
        </p:nvSpPr>
        <p:spPr>
          <a:xfrm>
            <a:off x="2654208" y="4905375"/>
            <a:ext cx="6883277" cy="380999"/>
          </a:xfrm>
          <a:prstGeom prst="rect">
            <a:avLst/>
          </a:prstGeom>
          <a:noFill/>
        </p:spPr>
        <p:txBody>
          <a:bodyPr wrap="square" lIns="0" rIns="0" tIns="0" bIns="0"/>
          <a:lstStyle/>
          <a:p>
            <a:pPr algn="ctr"/>
            <a:r>
              <a:rPr sz="100" b="0">
                <a:solidFill>
                  <a:srgbClr val="FFFFFF"/>
                </a:solidFill>
                <a:latin typeface="Inter"/>
              </a:rPr>
              <a:t>AI Assistant</a:t>
            </a:r>
          </a:p>
          <a:p>
            <a:pPr algn="ctr"/>
            <a:r>
              <a:rPr sz="100" b="0">
                <a:solidFill>
                  <a:srgbClr val="FFFFFF"/>
                </a:solidFill>
                <a:latin typeface="Inter"/>
              </a:rPr>
              <a:t>RAG Technology</a:t>
            </a:r>
          </a:p>
          <a:p>
            <a:pPr algn="ctr"/>
            <a:r>
              <a:rPr sz="100" b="0">
                <a:solidFill>
                  <a:srgbClr val="FFFFFF"/>
                </a:solidFill>
                <a:latin typeface="Inter"/>
              </a:rPr>
              <a:t>Smart Learning</a:t>
            </a:r>
          </a:p>
          <a:p>
            <a:pPr algn="ctr"/>
            <a:r>
              <a:rPr sz="100" b="0">
                <a:solidFill>
                  <a:srgbClr val="FFFFFF"/>
                </a:solidFill>
                <a:latin typeface="Inter"/>
              </a:rPr>
              <a:t>Interactive</a:t>
            </a:r>
          </a:p>
        </p:txBody>
      </p:sp>
      <p:sp>
        <p:nvSpPr>
          <p:cNvPr id="10" name="TextBox 9"/>
          <p:cNvSpPr txBox="1"/>
          <p:nvPr/>
        </p:nvSpPr>
        <p:spPr>
          <a:xfrm>
            <a:off x="3051123" y="5860256"/>
            <a:ext cx="2319130" cy="161924"/>
          </a:xfrm>
          <a:prstGeom prst="rect">
            <a:avLst/>
          </a:prstGeom>
          <a:noFill/>
        </p:spPr>
        <p:txBody>
          <a:bodyPr wrap="square" lIns="0" rIns="0" tIns="0" bIns="0"/>
          <a:lstStyle/>
          <a:p>
            <a:pPr algn="l"/>
            <a:r>
              <a:rPr sz="100" b="0">
                <a:solidFill>
                  <a:srgbClr val="FFFFFF"/>
                </a:solidFill>
                <a:latin typeface="Inter"/>
              </a:rPr>
              <a:t>Sự kiện</a:t>
            </a:r>
          </a:p>
        </p:txBody>
      </p:sp>
      <p:sp>
        <p:nvSpPr>
          <p:cNvPr id="11" name="TextBox 10"/>
          <p:cNvSpPr txBox="1"/>
          <p:nvPr/>
        </p:nvSpPr>
        <p:spPr>
          <a:xfrm>
            <a:off x="3051123" y="6041231"/>
            <a:ext cx="2319130" cy="195262"/>
          </a:xfrm>
          <a:prstGeom prst="rect">
            <a:avLst/>
          </a:prstGeom>
          <a:noFill/>
        </p:spPr>
        <p:txBody>
          <a:bodyPr wrap="square" lIns="0" rIns="0" tIns="0" bIns="0"/>
          <a:lstStyle/>
          <a:p>
            <a:pPr algn="l"/>
            <a:r>
              <a:rPr sz="100" b="1">
                <a:solidFill>
                  <a:srgbClr val="FFFFFF"/>
                </a:solidFill>
                <a:latin typeface="Inter"/>
              </a:rPr>
              <a:t>Ngày hội Đọc sách PTIT 2026</a:t>
            </a:r>
          </a:p>
        </p:txBody>
      </p:sp>
      <p:sp>
        <p:nvSpPr>
          <p:cNvPr id="12" name="TextBox 11"/>
          <p:cNvSpPr txBox="1"/>
          <p:nvPr/>
        </p:nvSpPr>
        <p:spPr>
          <a:xfrm>
            <a:off x="6351304" y="5860256"/>
            <a:ext cx="1122805" cy="161924"/>
          </a:xfrm>
          <a:prstGeom prst="rect">
            <a:avLst/>
          </a:prstGeom>
          <a:noFill/>
        </p:spPr>
        <p:txBody>
          <a:bodyPr wrap="square" lIns="0" rIns="0" tIns="0" bIns="0"/>
          <a:lstStyle/>
          <a:p>
            <a:pPr algn="l"/>
            <a:r>
              <a:rPr sz="100" b="0">
                <a:solidFill>
                  <a:srgbClr val="FFFFFF"/>
                </a:solidFill>
                <a:latin typeface="Inter"/>
              </a:rPr>
              <a:t>Đối tượng</a:t>
            </a:r>
          </a:p>
        </p:txBody>
      </p:sp>
      <p:sp>
        <p:nvSpPr>
          <p:cNvPr id="13" name="TextBox 12"/>
          <p:cNvSpPr txBox="1"/>
          <p:nvPr/>
        </p:nvSpPr>
        <p:spPr>
          <a:xfrm>
            <a:off x="6351304" y="6041231"/>
            <a:ext cx="1122805" cy="195262"/>
          </a:xfrm>
          <a:prstGeom prst="rect">
            <a:avLst/>
          </a:prstGeom>
          <a:noFill/>
        </p:spPr>
        <p:txBody>
          <a:bodyPr wrap="square" lIns="0" rIns="0" tIns="0" bIns="0"/>
          <a:lstStyle/>
          <a:p>
            <a:pPr algn="l"/>
            <a:r>
              <a:rPr sz="100" b="1">
                <a:solidFill>
                  <a:srgbClr val="FFFFFF"/>
                </a:solidFill>
                <a:latin typeface="Inter"/>
              </a:rPr>
              <a:t>Sinh viên PTIT</a:t>
            </a:r>
          </a:p>
        </p:txBody>
      </p:sp>
      <p:sp>
        <p:nvSpPr>
          <p:cNvPr id="14" name="TextBox 13"/>
          <p:cNvSpPr txBox="1"/>
          <p:nvPr/>
        </p:nvSpPr>
        <p:spPr>
          <a:xfrm>
            <a:off x="8455160" y="5860256"/>
            <a:ext cx="1285396" cy="161924"/>
          </a:xfrm>
          <a:prstGeom prst="rect">
            <a:avLst/>
          </a:prstGeom>
          <a:noFill/>
        </p:spPr>
        <p:txBody>
          <a:bodyPr wrap="square" lIns="0" rIns="0" tIns="0" bIns="0"/>
          <a:lstStyle/>
          <a:p>
            <a:pPr algn="l"/>
            <a:r>
              <a:rPr sz="100" b="0">
                <a:solidFill>
                  <a:srgbClr val="FFFFFF"/>
                </a:solidFill>
                <a:latin typeface="Inter"/>
              </a:rPr>
              <a:t>Nền tảng</a:t>
            </a:r>
          </a:p>
        </p:txBody>
      </p:sp>
      <p:sp>
        <p:nvSpPr>
          <p:cNvPr id="15" name="TextBox 14"/>
          <p:cNvSpPr txBox="1"/>
          <p:nvPr/>
        </p:nvSpPr>
        <p:spPr>
          <a:xfrm>
            <a:off x="8455160" y="6041231"/>
            <a:ext cx="1285396" cy="195262"/>
          </a:xfrm>
          <a:prstGeom prst="rect">
            <a:avLst/>
          </a:prstGeom>
          <a:noFill/>
        </p:spPr>
        <p:txBody>
          <a:bodyPr wrap="square" lIns="0" rIns="0" tIns="0" bIns="0"/>
          <a:lstStyle/>
          <a:p>
            <a:pPr algn="l"/>
            <a:r>
              <a:rPr sz="100" b="1">
                <a:solidFill>
                  <a:srgbClr val="FFFFFF"/>
                </a:solidFill>
                <a:latin typeface="Inter"/>
              </a:rPr>
              <a:t>Web Application</a:t>
            </a:r>
          </a:p>
        </p:txBody>
      </p:sp>
      <p:sp>
        <p:nvSpPr>
          <p:cNvPr id="16" name="TextBox 15"/>
          <p:cNvSpPr txBox="1"/>
          <p:nvPr/>
        </p:nvSpPr>
        <p:spPr>
          <a:xfrm>
            <a:off x="4932561" y="6524624"/>
            <a:ext cx="2326571" cy="209550"/>
          </a:xfrm>
          <a:prstGeom prst="rect">
            <a:avLst/>
          </a:prstGeom>
          <a:noFill/>
        </p:spPr>
        <p:txBody>
          <a:bodyPr wrap="square" lIns="0" rIns="0" tIns="0" bIns="0"/>
          <a:lstStyle/>
          <a:p>
            <a:pPr algn="ctr"/>
            <a:r>
              <a:rPr sz="100" b="0">
                <a:solidFill>
                  <a:srgbClr val="FFFFFF"/>
                </a:solidFill>
                <a:latin typeface="Inter"/>
              </a:rPr>
              <a:t>Quillora Team • PTIT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1047723" y="380999"/>
            <a:ext cx="4424698" cy="323849"/>
          </a:xfrm>
          <a:prstGeom prst="rect">
            <a:avLst/>
          </a:prstGeom>
          <a:noFill/>
        </p:spPr>
        <p:txBody>
          <a:bodyPr wrap="square" lIns="0" rIns="0" tIns="0" bIns="0"/>
          <a:lstStyle/>
          <a:p>
            <a:pPr algn="l"/>
            <a:r>
              <a:rPr sz="100" b="1">
                <a:solidFill>
                  <a:srgbClr val="FFFFFF"/>
                </a:solidFill>
                <a:latin typeface="Inter"/>
              </a:rPr>
              <a:t>Vấn đề thực tiễn</a:t>
            </a:r>
          </a:p>
        </p:txBody>
      </p:sp>
      <p:sp>
        <p:nvSpPr>
          <p:cNvPr id="4" name="TextBox 3"/>
          <p:cNvSpPr txBox="1"/>
          <p:nvPr/>
        </p:nvSpPr>
        <p:spPr>
          <a:xfrm>
            <a:off x="1047723" y="752475"/>
            <a:ext cx="4424698" cy="185737"/>
          </a:xfrm>
          <a:prstGeom prst="rect">
            <a:avLst/>
          </a:prstGeom>
          <a:noFill/>
        </p:spPr>
        <p:txBody>
          <a:bodyPr wrap="square" lIns="0" rIns="0" tIns="0" bIns="0"/>
          <a:lstStyle/>
          <a:p>
            <a:pPr algn="l"/>
            <a:r>
              <a:rPr sz="100" b="0">
                <a:solidFill>
                  <a:srgbClr val="FFFFFF"/>
                </a:solidFill>
                <a:latin typeface="Inter"/>
              </a:rPr>
              <a:t>Thực trạng đọc sách tại Việt Nam và thách thức cho sinh viên</a:t>
            </a:r>
          </a:p>
        </p:txBody>
      </p:sp>
      <p:sp>
        <p:nvSpPr>
          <p:cNvPr id="5" name="TextBox 4"/>
          <p:cNvSpPr txBox="1"/>
          <p:nvPr/>
        </p:nvSpPr>
        <p:spPr>
          <a:xfrm>
            <a:off x="9546639" y="566737"/>
            <a:ext cx="2168818" cy="185737"/>
          </a:xfrm>
          <a:prstGeom prst="rect">
            <a:avLst/>
          </a:prstGeom>
          <a:noFill/>
        </p:spPr>
        <p:txBody>
          <a:bodyPr wrap="square" lIns="0" rIns="0" tIns="0" bIns="0"/>
          <a:lstStyle/>
          <a:p>
            <a:pPr algn="l"/>
            <a:r>
              <a:rPr sz="100" b="0">
                <a:solidFill>
                  <a:srgbClr val="FFFFFF"/>
                </a:solidFill>
                <a:latin typeface="Inter"/>
              </a:rPr>
              <a:t>Ngày hội Đọc sách PTIT 2026</a:t>
            </a:r>
          </a:p>
        </p:txBody>
      </p:sp>
      <p:sp>
        <p:nvSpPr>
          <p:cNvPr id="6" name="TextBox 5"/>
          <p:cNvSpPr txBox="1"/>
          <p:nvPr/>
        </p:nvSpPr>
        <p:spPr>
          <a:xfrm>
            <a:off x="771505" y="2297906"/>
            <a:ext cx="4467113" cy="609600"/>
          </a:xfrm>
          <a:prstGeom prst="rect">
            <a:avLst/>
          </a:prstGeom>
          <a:noFill/>
        </p:spPr>
        <p:txBody>
          <a:bodyPr wrap="square" lIns="0" rIns="0" tIns="0" bIns="0"/>
          <a:lstStyle/>
          <a:p>
            <a:pPr algn="l"/>
            <a:r>
              <a:rPr sz="100" b="1">
                <a:solidFill>
                  <a:srgbClr val="FFFFFF"/>
                </a:solidFill>
                <a:latin typeface="Inter"/>
              </a:rPr>
              <a:t>1.2</a:t>
            </a:r>
          </a:p>
        </p:txBody>
      </p:sp>
      <p:sp>
        <p:nvSpPr>
          <p:cNvPr id="7" name="TextBox 6"/>
          <p:cNvSpPr txBox="1"/>
          <p:nvPr/>
        </p:nvSpPr>
        <p:spPr>
          <a:xfrm>
            <a:off x="771505" y="3021806"/>
            <a:ext cx="4467113" cy="209550"/>
          </a:xfrm>
          <a:prstGeom prst="rect">
            <a:avLst/>
          </a:prstGeom>
          <a:noFill/>
        </p:spPr>
        <p:txBody>
          <a:bodyPr wrap="square" lIns="0" rIns="0" tIns="0" bIns="0"/>
          <a:lstStyle/>
          <a:p>
            <a:pPr algn="l"/>
            <a:r>
              <a:rPr sz="100" b="0">
                <a:solidFill>
                  <a:srgbClr val="FFFFFF"/>
                </a:solidFill>
                <a:latin typeface="Inter"/>
              </a:rPr>
              <a:t>cuốn sách tự chọn/người/năm</a:t>
            </a:r>
          </a:p>
        </p:txBody>
      </p:sp>
      <p:sp>
        <p:nvSpPr>
          <p:cNvPr id="8" name="TextBox 7"/>
          <p:cNvSpPr txBox="1"/>
          <p:nvPr/>
        </p:nvSpPr>
        <p:spPr>
          <a:xfrm>
            <a:off x="771505" y="3307556"/>
            <a:ext cx="4467113" cy="171450"/>
          </a:xfrm>
          <a:prstGeom prst="rect">
            <a:avLst/>
          </a:prstGeom>
          <a:noFill/>
        </p:spPr>
        <p:txBody>
          <a:bodyPr wrap="square" lIns="0" rIns="0" tIns="0" bIns="0"/>
          <a:lstStyle/>
          <a:p>
            <a:pPr algn="l"/>
            <a:r>
              <a:rPr sz="100" b="1">
                <a:solidFill>
                  <a:srgbClr val="FFFFFF"/>
                </a:solidFill>
                <a:latin typeface="Inter"/>
              </a:rPr>
              <a:t>Giảm 15% so với năm trước</a:t>
            </a:r>
          </a:p>
        </p:txBody>
      </p:sp>
      <p:sp>
        <p:nvSpPr>
          <p:cNvPr id="9" name="TextBox 8"/>
          <p:cNvSpPr txBox="1"/>
          <p:nvPr/>
        </p:nvSpPr>
        <p:spPr>
          <a:xfrm>
            <a:off x="771505" y="3974306"/>
            <a:ext cx="4467113" cy="161924"/>
          </a:xfrm>
          <a:prstGeom prst="rect">
            <a:avLst/>
          </a:prstGeom>
          <a:noFill/>
        </p:spPr>
        <p:txBody>
          <a:bodyPr wrap="square" lIns="0" rIns="0" tIns="0" bIns="0"/>
          <a:lstStyle/>
          <a:p>
            <a:pPr algn="l"/>
            <a:r>
              <a:rPr sz="100" b="0">
                <a:solidFill>
                  <a:srgbClr val="FFFFFF"/>
                </a:solidFill>
                <a:latin typeface="Inter"/>
              </a:rPr>
              <a:t>Tỷ lệ đọc sách thấp hơn trung bình châu Á</a:t>
            </a:r>
          </a:p>
        </p:txBody>
      </p:sp>
      <p:sp>
        <p:nvSpPr>
          <p:cNvPr id="10" name="TextBox 9"/>
          <p:cNvSpPr txBox="1"/>
          <p:nvPr/>
        </p:nvSpPr>
        <p:spPr>
          <a:xfrm>
            <a:off x="1266793" y="5591175"/>
            <a:ext cx="1452526" cy="257175"/>
          </a:xfrm>
          <a:prstGeom prst="rect">
            <a:avLst/>
          </a:prstGeom>
          <a:noFill/>
        </p:spPr>
        <p:txBody>
          <a:bodyPr wrap="square" lIns="0" rIns="0" tIns="0" bIns="0"/>
          <a:lstStyle/>
          <a:p>
            <a:pPr algn="l"/>
            <a:r>
              <a:rPr sz="100" b="1">
                <a:solidFill>
                  <a:srgbClr val="FFFFFF"/>
                </a:solidFill>
                <a:latin typeface="Inter"/>
              </a:rPr>
              <a:t>79%</a:t>
            </a:r>
          </a:p>
        </p:txBody>
      </p:sp>
      <p:sp>
        <p:nvSpPr>
          <p:cNvPr id="11" name="TextBox 10"/>
          <p:cNvSpPr txBox="1"/>
          <p:nvPr/>
        </p:nvSpPr>
        <p:spPr>
          <a:xfrm>
            <a:off x="1266793" y="5867399"/>
            <a:ext cx="1452526" cy="323849"/>
          </a:xfrm>
          <a:prstGeom prst="rect">
            <a:avLst/>
          </a:prstGeom>
          <a:noFill/>
        </p:spPr>
        <p:txBody>
          <a:bodyPr wrap="square" lIns="0" rIns="0" tIns="0" bIns="0"/>
          <a:lstStyle/>
          <a:p>
            <a:pPr algn="l"/>
            <a:r>
              <a:rPr sz="100" b="0">
                <a:solidFill>
                  <a:srgbClr val="FFFFFF"/>
                </a:solidFill>
                <a:latin typeface="Inter"/>
              </a:rPr>
              <a:t>Quên kiến thức sau 31 ngày</a:t>
            </a:r>
          </a:p>
        </p:txBody>
      </p:sp>
      <p:sp>
        <p:nvSpPr>
          <p:cNvPr id="12" name="TextBox 11"/>
          <p:cNvSpPr txBox="1"/>
          <p:nvPr/>
        </p:nvSpPr>
        <p:spPr>
          <a:xfrm>
            <a:off x="3890865" y="5672137"/>
            <a:ext cx="1452526" cy="257175"/>
          </a:xfrm>
          <a:prstGeom prst="rect">
            <a:avLst/>
          </a:prstGeom>
          <a:noFill/>
        </p:spPr>
        <p:txBody>
          <a:bodyPr wrap="square" lIns="0" rIns="0" tIns="0" bIns="0"/>
          <a:lstStyle/>
          <a:p>
            <a:pPr algn="l"/>
            <a:r>
              <a:rPr sz="100" b="1">
                <a:solidFill>
                  <a:srgbClr val="FFFFFF"/>
                </a:solidFill>
                <a:latin typeface="Inter"/>
              </a:rPr>
              <a:t>15 phút</a:t>
            </a:r>
          </a:p>
        </p:txBody>
      </p:sp>
      <p:sp>
        <p:nvSpPr>
          <p:cNvPr id="13" name="TextBox 12"/>
          <p:cNvSpPr txBox="1"/>
          <p:nvPr/>
        </p:nvSpPr>
        <p:spPr>
          <a:xfrm>
            <a:off x="3890865" y="5948362"/>
            <a:ext cx="1452526" cy="161924"/>
          </a:xfrm>
          <a:prstGeom prst="rect">
            <a:avLst/>
          </a:prstGeom>
          <a:noFill/>
        </p:spPr>
        <p:txBody>
          <a:bodyPr wrap="square" lIns="0" rIns="0" tIns="0" bIns="0"/>
          <a:lstStyle/>
          <a:p>
            <a:pPr algn="l"/>
            <a:r>
              <a:rPr sz="100" b="0">
                <a:solidFill>
                  <a:srgbClr val="FFFFFF"/>
                </a:solidFill>
                <a:latin typeface="Inter"/>
              </a:rPr>
              <a:t>Thời gian đọc/ngày</a:t>
            </a:r>
          </a:p>
        </p:txBody>
      </p:sp>
      <p:sp>
        <p:nvSpPr>
          <p:cNvPr id="14" name="TextBox 13"/>
          <p:cNvSpPr txBox="1"/>
          <p:nvPr/>
        </p:nvSpPr>
        <p:spPr>
          <a:xfrm>
            <a:off x="6114897" y="1519237"/>
            <a:ext cx="5197617" cy="233362"/>
          </a:xfrm>
          <a:prstGeom prst="rect">
            <a:avLst/>
          </a:prstGeom>
          <a:noFill/>
        </p:spPr>
        <p:txBody>
          <a:bodyPr wrap="square" lIns="0" rIns="0" tIns="0" bIns="0"/>
          <a:lstStyle/>
          <a:p>
            <a:pPr algn="l"/>
            <a:r>
              <a:rPr sz="100" b="1">
                <a:solidFill>
                  <a:srgbClr val="FFFFFF"/>
                </a:solidFill>
                <a:latin typeface="Inter"/>
              </a:rPr>
              <a:t>Insight về sinh viên PTIT</a:t>
            </a:r>
          </a:p>
        </p:txBody>
      </p:sp>
      <p:sp>
        <p:nvSpPr>
          <p:cNvPr id="15" name="TextBox 14"/>
          <p:cNvSpPr txBox="1"/>
          <p:nvPr/>
        </p:nvSpPr>
        <p:spPr>
          <a:xfrm>
            <a:off x="6305392" y="1990725"/>
            <a:ext cx="5007122" cy="487560"/>
          </a:xfrm>
          <a:prstGeom prst="rect">
            <a:avLst/>
          </a:prstGeom>
          <a:noFill/>
        </p:spPr>
        <p:txBody>
          <a:bodyPr wrap="square" lIns="0" rIns="0" tIns="0" bIns="0"/>
          <a:lstStyle/>
          <a:p>
            <a:pPr algn="l"/>
            <a:r>
              <a:rPr sz="100" b="0">
                <a:solidFill>
                  <a:srgbClr val="FFFFFF"/>
                </a:solidFill>
                <a:latin typeface="Inter"/>
              </a:rPr>
              <a:t>Giáo trình dày, thuật ngữ phức tạp: Sinh viên kỹ thuật đối mặt với tài liệu chuyên ngành khó tiếp cận, thiếu công cụ tra cứu chủ động.</a:t>
            </a:r>
          </a:p>
        </p:txBody>
      </p:sp>
      <p:sp>
        <p:nvSpPr>
          <p:cNvPr id="16" name="TextBox 15"/>
          <p:cNvSpPr txBox="1"/>
          <p:nvPr/>
        </p:nvSpPr>
        <p:spPr>
          <a:xfrm>
            <a:off x="6305392" y="2649735"/>
            <a:ext cx="5007122" cy="487560"/>
          </a:xfrm>
          <a:prstGeom prst="rect">
            <a:avLst/>
          </a:prstGeom>
          <a:noFill/>
        </p:spPr>
        <p:txBody>
          <a:bodyPr wrap="square" lIns="0" rIns="0" tIns="0" bIns="0"/>
          <a:lstStyle/>
          <a:p>
            <a:pPr algn="l"/>
            <a:r>
              <a:rPr sz="100" b="0">
                <a:solidFill>
                  <a:srgbClr val="FFFFFF"/>
                </a:solidFill>
                <a:latin typeface="Inter"/>
              </a:rPr>
              <a:t>Thiếu tính tương tác: Nội dung dài, khô khan, dễ bỏ dở, không có công cụ tóm tắt thông minh.</a:t>
            </a:r>
          </a:p>
        </p:txBody>
      </p:sp>
      <p:sp>
        <p:nvSpPr>
          <p:cNvPr id="17" name="TextBox 16"/>
          <p:cNvSpPr txBox="1"/>
          <p:nvPr/>
        </p:nvSpPr>
        <p:spPr>
          <a:xfrm>
            <a:off x="6305392" y="3308746"/>
            <a:ext cx="5007122" cy="487560"/>
          </a:xfrm>
          <a:prstGeom prst="rect">
            <a:avLst/>
          </a:prstGeom>
          <a:noFill/>
        </p:spPr>
        <p:txBody>
          <a:bodyPr wrap="square" lIns="0" rIns="0" tIns="0" bIns="0"/>
          <a:lstStyle/>
          <a:p>
            <a:pPr algn="l"/>
            <a:r>
              <a:rPr sz="100" b="0">
                <a:solidFill>
                  <a:srgbClr val="FFFFFF"/>
                </a:solidFill>
                <a:latin typeface="Inter"/>
              </a:rPr>
              <a:t>Ghi nhớ kém: Theo đường cong lãng quên Ebbinghaus, sinh viên quên 79% kiến thức sau 31 ngày nếu không ôn tập.</a:t>
            </a:r>
          </a:p>
        </p:txBody>
      </p:sp>
      <p:sp>
        <p:nvSpPr>
          <p:cNvPr id="18" name="TextBox 17"/>
          <p:cNvSpPr txBox="1"/>
          <p:nvPr/>
        </p:nvSpPr>
        <p:spPr>
          <a:xfrm>
            <a:off x="6305392" y="3967757"/>
            <a:ext cx="5007122" cy="487560"/>
          </a:xfrm>
          <a:prstGeom prst="rect">
            <a:avLst/>
          </a:prstGeom>
          <a:noFill/>
        </p:spPr>
        <p:txBody>
          <a:bodyPr wrap="square" lIns="0" rIns="0" tIns="0" bIns="0"/>
          <a:lstStyle/>
          <a:p>
            <a:pPr algn="l"/>
            <a:r>
              <a:rPr sz="100" b="0">
                <a:solidFill>
                  <a:srgbClr val="FFFFFF"/>
                </a:solidFill>
                <a:latin typeface="Inter"/>
              </a:rPr>
              <a:t>Ôn tập rời rạc: Thiếu quiz/flashcard để chủ động nhớ lâu, không có hệ thống ôn tập khoa học.</a:t>
            </a:r>
          </a:p>
        </p:txBody>
      </p:sp>
      <p:sp>
        <p:nvSpPr>
          <p:cNvPr id="19" name="TextBox 18"/>
          <p:cNvSpPr txBox="1"/>
          <p:nvPr/>
        </p:nvSpPr>
        <p:spPr>
          <a:xfrm>
            <a:off x="6067273" y="5200650"/>
            <a:ext cx="2500622" cy="209550"/>
          </a:xfrm>
          <a:prstGeom prst="rect">
            <a:avLst/>
          </a:prstGeom>
          <a:noFill/>
        </p:spPr>
        <p:txBody>
          <a:bodyPr wrap="square" lIns="0" rIns="0" tIns="0" bIns="0"/>
          <a:lstStyle/>
          <a:p>
            <a:pPr algn="l"/>
            <a:r>
              <a:rPr sz="100" b="1">
                <a:solidFill>
                  <a:srgbClr val="FFFFFF"/>
                </a:solidFill>
                <a:latin typeface="Inter"/>
              </a:rPr>
              <a:t>Tỷ lệ đọc sách theo nhóm tuổi</a:t>
            </a:r>
          </a:p>
        </p:txBody>
      </p:sp>
      <p:sp>
        <p:nvSpPr>
          <p:cNvPr id="20" name="TextBox 19"/>
          <p:cNvSpPr txBox="1"/>
          <p:nvPr/>
        </p:nvSpPr>
        <p:spPr>
          <a:xfrm>
            <a:off x="9925694" y="5188743"/>
            <a:ext cx="1434444" cy="233362"/>
          </a:xfrm>
          <a:prstGeom prst="rect">
            <a:avLst/>
          </a:prstGeom>
          <a:noFill/>
        </p:spPr>
        <p:txBody>
          <a:bodyPr wrap="square" lIns="0" rIns="0" tIns="0" bIns="0"/>
          <a:lstStyle/>
          <a:p>
            <a:pPr algn="l"/>
            <a:r>
              <a:rPr sz="100" b="1">
                <a:solidFill>
                  <a:srgbClr val="FFFFFF"/>
                </a:solidFill>
                <a:latin typeface="Inter"/>
              </a:rPr>
              <a:t>18-25 tuổi: 15%</a:t>
            </a:r>
          </a:p>
        </p:txBody>
      </p:sp>
      <p:sp>
        <p:nvSpPr>
          <p:cNvPr id="21" name="TextBox 20"/>
          <p:cNvSpPr txBox="1"/>
          <p:nvPr/>
        </p:nvSpPr>
        <p:spPr>
          <a:xfrm>
            <a:off x="6429586" y="5986462"/>
            <a:ext cx="333887" cy="147637"/>
          </a:xfrm>
          <a:prstGeom prst="rect">
            <a:avLst/>
          </a:prstGeom>
          <a:noFill/>
        </p:spPr>
        <p:txBody>
          <a:bodyPr wrap="square" lIns="0" rIns="0" tIns="0" bIns="0"/>
          <a:lstStyle/>
          <a:p>
            <a:pPr algn="ctr"/>
            <a:r>
              <a:rPr sz="100" b="0">
                <a:solidFill>
                  <a:srgbClr val="FFFFFF"/>
                </a:solidFill>
                <a:latin typeface="Inter"/>
              </a:rPr>
              <a:t>18-25</a:t>
            </a:r>
          </a:p>
        </p:txBody>
      </p:sp>
      <p:sp>
        <p:nvSpPr>
          <p:cNvPr id="22" name="TextBox 21"/>
          <p:cNvSpPr txBox="1"/>
          <p:nvPr/>
        </p:nvSpPr>
        <p:spPr>
          <a:xfrm>
            <a:off x="7473663" y="5986462"/>
            <a:ext cx="362759" cy="147637"/>
          </a:xfrm>
          <a:prstGeom prst="rect">
            <a:avLst/>
          </a:prstGeom>
          <a:noFill/>
        </p:spPr>
        <p:txBody>
          <a:bodyPr wrap="square" lIns="0" rIns="0" tIns="0" bIns="0"/>
          <a:lstStyle/>
          <a:p>
            <a:pPr algn="ctr"/>
            <a:r>
              <a:rPr sz="100" b="0">
                <a:solidFill>
                  <a:srgbClr val="FFFFFF"/>
                </a:solidFill>
                <a:latin typeface="Inter"/>
              </a:rPr>
              <a:t>26-35</a:t>
            </a:r>
          </a:p>
        </p:txBody>
      </p:sp>
      <p:sp>
        <p:nvSpPr>
          <p:cNvPr id="23" name="TextBox 22"/>
          <p:cNvSpPr txBox="1"/>
          <p:nvPr/>
        </p:nvSpPr>
        <p:spPr>
          <a:xfrm>
            <a:off x="8529201" y="5986462"/>
            <a:ext cx="368861" cy="147637"/>
          </a:xfrm>
          <a:prstGeom prst="rect">
            <a:avLst/>
          </a:prstGeom>
          <a:noFill/>
        </p:spPr>
        <p:txBody>
          <a:bodyPr wrap="square" lIns="0" rIns="0" tIns="0" bIns="0"/>
          <a:lstStyle/>
          <a:p>
            <a:pPr algn="ctr"/>
            <a:r>
              <a:rPr sz="100" b="0">
                <a:solidFill>
                  <a:srgbClr val="FFFFFF"/>
                </a:solidFill>
                <a:latin typeface="Inter"/>
              </a:rPr>
              <a:t>36-45</a:t>
            </a:r>
          </a:p>
        </p:txBody>
      </p:sp>
      <p:sp>
        <p:nvSpPr>
          <p:cNvPr id="24" name="TextBox 23"/>
          <p:cNvSpPr txBox="1"/>
          <p:nvPr/>
        </p:nvSpPr>
        <p:spPr>
          <a:xfrm>
            <a:off x="9589277" y="5986462"/>
            <a:ext cx="365884" cy="147637"/>
          </a:xfrm>
          <a:prstGeom prst="rect">
            <a:avLst/>
          </a:prstGeom>
          <a:noFill/>
        </p:spPr>
        <p:txBody>
          <a:bodyPr wrap="square" lIns="0" rIns="0" tIns="0" bIns="0"/>
          <a:lstStyle/>
          <a:p>
            <a:pPr algn="ctr"/>
            <a:r>
              <a:rPr sz="100" b="0">
                <a:solidFill>
                  <a:srgbClr val="FFFFFF"/>
                </a:solidFill>
                <a:latin typeface="Inter"/>
              </a:rPr>
              <a:t>46-55</a:t>
            </a:r>
          </a:p>
        </p:txBody>
      </p:sp>
      <p:sp>
        <p:nvSpPr>
          <p:cNvPr id="25" name="TextBox 24"/>
          <p:cNvSpPr txBox="1"/>
          <p:nvPr/>
        </p:nvSpPr>
        <p:spPr>
          <a:xfrm>
            <a:off x="10714836" y="5986462"/>
            <a:ext cx="232017" cy="147637"/>
          </a:xfrm>
          <a:prstGeom prst="rect">
            <a:avLst/>
          </a:prstGeom>
          <a:noFill/>
        </p:spPr>
        <p:txBody>
          <a:bodyPr wrap="square" lIns="0" rIns="0" tIns="0" bIns="0"/>
          <a:lstStyle/>
          <a:p>
            <a:pPr algn="ctr"/>
            <a:r>
              <a:rPr sz="100" b="0">
                <a:solidFill>
                  <a:srgbClr val="FFFFFF"/>
                </a:solidFill>
                <a:latin typeface="Inter"/>
              </a:rPr>
              <a:t>55+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1047723" y="380999"/>
            <a:ext cx="5773345" cy="366712"/>
          </a:xfrm>
          <a:prstGeom prst="rect">
            <a:avLst/>
          </a:prstGeom>
          <a:noFill/>
        </p:spPr>
        <p:txBody>
          <a:bodyPr wrap="square" lIns="0" rIns="0" tIns="0" bIns="0"/>
          <a:lstStyle/>
          <a:p>
            <a:pPr algn="l"/>
            <a:r>
              <a:rPr sz="100" b="1">
                <a:solidFill>
                  <a:srgbClr val="FFFFFF"/>
                </a:solidFill>
                <a:latin typeface="Inter"/>
              </a:rPr>
              <a:t>Thách thức của sinh viên kỹ thuật PTIT</a:t>
            </a:r>
          </a:p>
        </p:txBody>
      </p:sp>
      <p:sp>
        <p:nvSpPr>
          <p:cNvPr id="4" name="TextBox 3"/>
          <p:cNvSpPr txBox="1"/>
          <p:nvPr/>
        </p:nvSpPr>
        <p:spPr>
          <a:xfrm>
            <a:off x="1047723" y="766762"/>
            <a:ext cx="5773345" cy="209550"/>
          </a:xfrm>
          <a:prstGeom prst="rect">
            <a:avLst/>
          </a:prstGeom>
          <a:noFill/>
        </p:spPr>
        <p:txBody>
          <a:bodyPr wrap="square" lIns="0" rIns="0" tIns="0" bIns="0"/>
          <a:lstStyle/>
          <a:p>
            <a:pPr algn="l"/>
            <a:r>
              <a:rPr sz="100" b="0">
                <a:solidFill>
                  <a:srgbClr val="FFFFFF"/>
                </a:solidFill>
                <a:latin typeface="Inter"/>
              </a:rPr>
              <a:t>5 rào cản lớn trong việc tiếp cận và ghi nhớ kiến thức</a:t>
            </a:r>
          </a:p>
        </p:txBody>
      </p:sp>
      <p:sp>
        <p:nvSpPr>
          <p:cNvPr id="5" name="TextBox 4"/>
          <p:cNvSpPr txBox="1"/>
          <p:nvPr/>
        </p:nvSpPr>
        <p:spPr>
          <a:xfrm>
            <a:off x="9546639" y="585787"/>
            <a:ext cx="2168818" cy="185737"/>
          </a:xfrm>
          <a:prstGeom prst="rect">
            <a:avLst/>
          </a:prstGeom>
          <a:noFill/>
        </p:spPr>
        <p:txBody>
          <a:bodyPr wrap="square" lIns="0" rIns="0" tIns="0" bIns="0"/>
          <a:lstStyle/>
          <a:p>
            <a:pPr algn="l"/>
            <a:r>
              <a:rPr sz="100" b="0">
                <a:solidFill>
                  <a:srgbClr val="FFFFFF"/>
                </a:solidFill>
                <a:latin typeface="Inter"/>
              </a:rPr>
              <a:t>Ngày hội Đọc sách PTIT 2026</a:t>
            </a:r>
          </a:p>
        </p:txBody>
      </p:sp>
      <p:sp>
        <p:nvSpPr>
          <p:cNvPr id="6" name="TextBox 5"/>
          <p:cNvSpPr txBox="1"/>
          <p:nvPr/>
        </p:nvSpPr>
        <p:spPr>
          <a:xfrm>
            <a:off x="1371565" y="1671637"/>
            <a:ext cx="1162244" cy="209550"/>
          </a:xfrm>
          <a:prstGeom prst="rect">
            <a:avLst/>
          </a:prstGeom>
          <a:noFill/>
        </p:spPr>
        <p:txBody>
          <a:bodyPr wrap="square" lIns="0" rIns="0" tIns="0" bIns="0"/>
          <a:lstStyle/>
          <a:p>
            <a:pPr algn="l"/>
            <a:r>
              <a:rPr sz="100" b="1">
                <a:solidFill>
                  <a:srgbClr val="FFFFFF"/>
                </a:solidFill>
                <a:latin typeface="Inter"/>
              </a:rPr>
              <a:t>Giáo trình dày</a:t>
            </a:r>
          </a:p>
        </p:txBody>
      </p:sp>
      <p:sp>
        <p:nvSpPr>
          <p:cNvPr id="7" name="TextBox 6"/>
          <p:cNvSpPr txBox="1"/>
          <p:nvPr/>
        </p:nvSpPr>
        <p:spPr>
          <a:xfrm>
            <a:off x="752456" y="2157412"/>
            <a:ext cx="3035199" cy="685800"/>
          </a:xfrm>
          <a:prstGeom prst="rect">
            <a:avLst/>
          </a:prstGeom>
          <a:noFill/>
        </p:spPr>
        <p:txBody>
          <a:bodyPr wrap="square" lIns="0" rIns="0" tIns="0" bIns="0"/>
          <a:lstStyle/>
          <a:p>
            <a:pPr algn="l"/>
            <a:r>
              <a:rPr sz="100" b="0">
                <a:solidFill>
                  <a:srgbClr val="FFFFFF"/>
                </a:solidFill>
                <a:latin typeface="Inter"/>
              </a:rPr>
              <a:t>Tài liệu chuyên ngành dày dặn, thuật ngữ phức tạp, khó tiếp cận và nắm bắt nội dung chính.</a:t>
            </a:r>
          </a:p>
        </p:txBody>
      </p:sp>
      <p:sp>
        <p:nvSpPr>
          <p:cNvPr id="8" name="TextBox 7"/>
          <p:cNvSpPr txBox="1"/>
          <p:nvPr/>
        </p:nvSpPr>
        <p:spPr>
          <a:xfrm>
            <a:off x="752456" y="3143250"/>
            <a:ext cx="447440" cy="161924"/>
          </a:xfrm>
          <a:prstGeom prst="rect">
            <a:avLst/>
          </a:prstGeom>
          <a:noFill/>
        </p:spPr>
        <p:txBody>
          <a:bodyPr wrap="square" lIns="0" rIns="0" tIns="0" bIns="0"/>
          <a:lstStyle/>
          <a:p>
            <a:pPr algn="l"/>
            <a:r>
              <a:rPr sz="100" b="0">
                <a:solidFill>
                  <a:srgbClr val="FFFFFF"/>
                </a:solidFill>
                <a:latin typeface="Inter"/>
              </a:rPr>
              <a:t>Độ khó</a:t>
            </a:r>
          </a:p>
        </p:txBody>
      </p:sp>
      <p:sp>
        <p:nvSpPr>
          <p:cNvPr id="9" name="TextBox 8"/>
          <p:cNvSpPr txBox="1"/>
          <p:nvPr/>
        </p:nvSpPr>
        <p:spPr>
          <a:xfrm>
            <a:off x="3511362" y="3138487"/>
            <a:ext cx="276292" cy="171450"/>
          </a:xfrm>
          <a:prstGeom prst="rect">
            <a:avLst/>
          </a:prstGeom>
          <a:noFill/>
        </p:spPr>
        <p:txBody>
          <a:bodyPr wrap="square" lIns="0" rIns="0" tIns="0" bIns="0"/>
          <a:lstStyle/>
          <a:p>
            <a:pPr algn="l"/>
            <a:r>
              <a:rPr sz="100" b="1">
                <a:solidFill>
                  <a:srgbClr val="FFFFFF"/>
                </a:solidFill>
                <a:latin typeface="Inter"/>
              </a:rPr>
              <a:t>Cao</a:t>
            </a:r>
          </a:p>
        </p:txBody>
      </p:sp>
      <p:sp>
        <p:nvSpPr>
          <p:cNvPr id="10" name="TextBox 9"/>
          <p:cNvSpPr txBox="1"/>
          <p:nvPr/>
        </p:nvSpPr>
        <p:spPr>
          <a:xfrm>
            <a:off x="5197320" y="1671637"/>
            <a:ext cx="1985391" cy="209550"/>
          </a:xfrm>
          <a:prstGeom prst="rect">
            <a:avLst/>
          </a:prstGeom>
          <a:noFill/>
        </p:spPr>
        <p:txBody>
          <a:bodyPr wrap="square" lIns="0" rIns="0" tIns="0" bIns="0"/>
          <a:lstStyle/>
          <a:p>
            <a:pPr algn="l"/>
            <a:r>
              <a:rPr sz="100" b="1">
                <a:solidFill>
                  <a:srgbClr val="FFFFFF"/>
                </a:solidFill>
                <a:latin typeface="Inter"/>
              </a:rPr>
              <a:t>Thiếu tra cứu ngữ nghĩa</a:t>
            </a:r>
          </a:p>
        </p:txBody>
      </p:sp>
      <p:sp>
        <p:nvSpPr>
          <p:cNvPr id="11" name="TextBox 10"/>
          <p:cNvSpPr txBox="1"/>
          <p:nvPr/>
        </p:nvSpPr>
        <p:spPr>
          <a:xfrm>
            <a:off x="4578210" y="2157412"/>
            <a:ext cx="3035199" cy="457200"/>
          </a:xfrm>
          <a:prstGeom prst="rect">
            <a:avLst/>
          </a:prstGeom>
          <a:noFill/>
        </p:spPr>
        <p:txBody>
          <a:bodyPr wrap="square" lIns="0" rIns="0" tIns="0" bIns="0"/>
          <a:lstStyle/>
          <a:p>
            <a:pPr algn="l"/>
            <a:r>
              <a:rPr sz="100" b="0">
                <a:solidFill>
                  <a:srgbClr val="FFFFFF"/>
                </a:solidFill>
                <a:latin typeface="Inter"/>
              </a:rPr>
              <a:t>Khó tìm đúng đoạn văn cần, thiếu công cụ tra cứu theo ngữ cảnh chính xác.</a:t>
            </a:r>
          </a:p>
        </p:txBody>
      </p:sp>
      <p:sp>
        <p:nvSpPr>
          <p:cNvPr id="12" name="TextBox 11"/>
          <p:cNvSpPr txBox="1"/>
          <p:nvPr/>
        </p:nvSpPr>
        <p:spPr>
          <a:xfrm>
            <a:off x="4578210" y="3143250"/>
            <a:ext cx="560919" cy="161924"/>
          </a:xfrm>
          <a:prstGeom prst="rect">
            <a:avLst/>
          </a:prstGeom>
          <a:noFill/>
        </p:spPr>
        <p:txBody>
          <a:bodyPr wrap="square" lIns="0" rIns="0" tIns="0" bIns="0"/>
          <a:lstStyle/>
          <a:p>
            <a:pPr algn="l"/>
            <a:r>
              <a:rPr sz="100" b="0">
                <a:solidFill>
                  <a:srgbClr val="FFFFFF"/>
                </a:solidFill>
                <a:latin typeface="Inter"/>
              </a:rPr>
              <a:t>Hiệu quả</a:t>
            </a:r>
          </a:p>
        </p:txBody>
      </p:sp>
      <p:sp>
        <p:nvSpPr>
          <p:cNvPr id="13" name="TextBox 12"/>
          <p:cNvSpPr txBox="1"/>
          <p:nvPr/>
        </p:nvSpPr>
        <p:spPr>
          <a:xfrm>
            <a:off x="7256082" y="3138487"/>
            <a:ext cx="357327" cy="171450"/>
          </a:xfrm>
          <a:prstGeom prst="rect">
            <a:avLst/>
          </a:prstGeom>
          <a:noFill/>
        </p:spPr>
        <p:txBody>
          <a:bodyPr wrap="square" lIns="0" rIns="0" tIns="0" bIns="0"/>
          <a:lstStyle/>
          <a:p>
            <a:pPr algn="l"/>
            <a:r>
              <a:rPr sz="100" b="1">
                <a:solidFill>
                  <a:srgbClr val="FFFFFF"/>
                </a:solidFill>
                <a:latin typeface="Inter"/>
              </a:rPr>
              <a:t>Thấp</a:t>
            </a:r>
          </a:p>
        </p:txBody>
      </p:sp>
      <p:sp>
        <p:nvSpPr>
          <p:cNvPr id="14" name="TextBox 13"/>
          <p:cNvSpPr txBox="1"/>
          <p:nvPr/>
        </p:nvSpPr>
        <p:spPr>
          <a:xfrm>
            <a:off x="9023074" y="1671637"/>
            <a:ext cx="1035669" cy="209550"/>
          </a:xfrm>
          <a:prstGeom prst="rect">
            <a:avLst/>
          </a:prstGeom>
          <a:noFill/>
        </p:spPr>
        <p:txBody>
          <a:bodyPr wrap="square" lIns="0" rIns="0" tIns="0" bIns="0"/>
          <a:lstStyle/>
          <a:p>
            <a:pPr algn="l"/>
            <a:r>
              <a:rPr sz="100" b="1">
                <a:solidFill>
                  <a:srgbClr val="FFFFFF"/>
                </a:solidFill>
                <a:latin typeface="Inter"/>
              </a:rPr>
              <a:t>Ghi nhớ kém</a:t>
            </a:r>
          </a:p>
        </p:txBody>
      </p:sp>
      <p:sp>
        <p:nvSpPr>
          <p:cNvPr id="15" name="TextBox 14"/>
          <p:cNvSpPr txBox="1"/>
          <p:nvPr/>
        </p:nvSpPr>
        <p:spPr>
          <a:xfrm>
            <a:off x="8403965" y="2157412"/>
            <a:ext cx="3035199" cy="457200"/>
          </a:xfrm>
          <a:prstGeom prst="rect">
            <a:avLst/>
          </a:prstGeom>
          <a:noFill/>
        </p:spPr>
        <p:txBody>
          <a:bodyPr wrap="square" lIns="0" rIns="0" tIns="0" bIns="0"/>
          <a:lstStyle/>
          <a:p>
            <a:pPr algn="l"/>
            <a:r>
              <a:rPr sz="100" b="0">
                <a:solidFill>
                  <a:srgbClr val="FFFFFF"/>
                </a:solidFill>
                <a:latin typeface="Inter"/>
              </a:rPr>
              <a:t>Quên 79% kiến thức sau 31 ngày theo đường cong lãng quên Ebbinghaus.</a:t>
            </a:r>
          </a:p>
        </p:txBody>
      </p:sp>
      <p:sp>
        <p:nvSpPr>
          <p:cNvPr id="16" name="TextBox 15"/>
          <p:cNvSpPr txBox="1"/>
          <p:nvPr/>
        </p:nvSpPr>
        <p:spPr>
          <a:xfrm>
            <a:off x="8403965" y="3143250"/>
            <a:ext cx="308587" cy="161924"/>
          </a:xfrm>
          <a:prstGeom prst="rect">
            <a:avLst/>
          </a:prstGeom>
          <a:noFill/>
        </p:spPr>
        <p:txBody>
          <a:bodyPr wrap="square" lIns="0" rIns="0" tIns="0" bIns="0"/>
          <a:lstStyle/>
          <a:p>
            <a:pPr algn="l"/>
            <a:r>
              <a:rPr sz="100" b="0">
                <a:solidFill>
                  <a:srgbClr val="FFFFFF"/>
                </a:solidFill>
                <a:latin typeface="Inter"/>
              </a:rPr>
              <a:t>Tỷ lệ</a:t>
            </a:r>
          </a:p>
        </p:txBody>
      </p:sp>
      <p:sp>
        <p:nvSpPr>
          <p:cNvPr id="17" name="TextBox 16"/>
          <p:cNvSpPr txBox="1"/>
          <p:nvPr/>
        </p:nvSpPr>
        <p:spPr>
          <a:xfrm>
            <a:off x="11119564" y="3138487"/>
            <a:ext cx="319600" cy="171450"/>
          </a:xfrm>
          <a:prstGeom prst="rect">
            <a:avLst/>
          </a:prstGeom>
          <a:noFill/>
        </p:spPr>
        <p:txBody>
          <a:bodyPr wrap="square" lIns="0" rIns="0" tIns="0" bIns="0"/>
          <a:lstStyle/>
          <a:p>
            <a:pPr algn="l"/>
            <a:r>
              <a:rPr sz="100" b="1">
                <a:solidFill>
                  <a:srgbClr val="FFFFFF"/>
                </a:solidFill>
                <a:latin typeface="Inter"/>
              </a:rPr>
              <a:t>79%</a:t>
            </a:r>
          </a:p>
        </p:txBody>
      </p:sp>
      <p:sp>
        <p:nvSpPr>
          <p:cNvPr id="18" name="TextBox 17"/>
          <p:cNvSpPr txBox="1"/>
          <p:nvPr/>
        </p:nvSpPr>
        <p:spPr>
          <a:xfrm>
            <a:off x="1371565" y="4233862"/>
            <a:ext cx="1122433" cy="209550"/>
          </a:xfrm>
          <a:prstGeom prst="rect">
            <a:avLst/>
          </a:prstGeom>
          <a:noFill/>
        </p:spPr>
        <p:txBody>
          <a:bodyPr wrap="square" lIns="0" rIns="0" tIns="0" bIns="0"/>
          <a:lstStyle/>
          <a:p>
            <a:pPr algn="l"/>
            <a:r>
              <a:rPr sz="100" b="1">
                <a:solidFill>
                  <a:srgbClr val="FFFFFF"/>
                </a:solidFill>
                <a:latin typeface="Inter"/>
              </a:rPr>
              <a:t>Ôn tập rời rạc</a:t>
            </a:r>
          </a:p>
        </p:txBody>
      </p:sp>
      <p:sp>
        <p:nvSpPr>
          <p:cNvPr id="19" name="TextBox 18"/>
          <p:cNvSpPr txBox="1"/>
          <p:nvPr/>
        </p:nvSpPr>
        <p:spPr>
          <a:xfrm>
            <a:off x="752456" y="4719637"/>
            <a:ext cx="3035199" cy="457200"/>
          </a:xfrm>
          <a:prstGeom prst="rect">
            <a:avLst/>
          </a:prstGeom>
          <a:noFill/>
        </p:spPr>
        <p:txBody>
          <a:bodyPr wrap="square" lIns="0" rIns="0" tIns="0" bIns="0"/>
          <a:lstStyle/>
          <a:p>
            <a:pPr algn="l"/>
            <a:r>
              <a:rPr sz="100" b="0">
                <a:solidFill>
                  <a:srgbClr val="FFFFFF"/>
                </a:solidFill>
                <a:latin typeface="Inter"/>
              </a:rPr>
              <a:t>Thiếu quiz/flashcard để chủ động ôn tập, không có hệ thống ôn tập khoa học.</a:t>
            </a:r>
          </a:p>
        </p:txBody>
      </p:sp>
      <p:sp>
        <p:nvSpPr>
          <p:cNvPr id="20" name="TextBox 19"/>
          <p:cNvSpPr txBox="1"/>
          <p:nvPr/>
        </p:nvSpPr>
        <p:spPr>
          <a:xfrm>
            <a:off x="752456" y="5476875"/>
            <a:ext cx="544994" cy="161924"/>
          </a:xfrm>
          <a:prstGeom prst="rect">
            <a:avLst/>
          </a:prstGeom>
          <a:noFill/>
        </p:spPr>
        <p:txBody>
          <a:bodyPr wrap="square" lIns="0" rIns="0" tIns="0" bIns="0"/>
          <a:lstStyle/>
          <a:p>
            <a:pPr algn="l"/>
            <a:r>
              <a:rPr sz="100" b="0">
                <a:solidFill>
                  <a:srgbClr val="FFFFFF"/>
                </a:solidFill>
                <a:latin typeface="Inter"/>
              </a:rPr>
              <a:t>Tần suất</a:t>
            </a:r>
          </a:p>
        </p:txBody>
      </p:sp>
      <p:sp>
        <p:nvSpPr>
          <p:cNvPr id="21" name="TextBox 20"/>
          <p:cNvSpPr txBox="1"/>
          <p:nvPr/>
        </p:nvSpPr>
        <p:spPr>
          <a:xfrm>
            <a:off x="3308664" y="5472112"/>
            <a:ext cx="478991" cy="171450"/>
          </a:xfrm>
          <a:prstGeom prst="rect">
            <a:avLst/>
          </a:prstGeom>
          <a:noFill/>
        </p:spPr>
        <p:txBody>
          <a:bodyPr wrap="square" lIns="0" rIns="0" tIns="0" bIns="0"/>
          <a:lstStyle/>
          <a:p>
            <a:pPr algn="l"/>
            <a:r>
              <a:rPr sz="100" b="1">
                <a:solidFill>
                  <a:srgbClr val="FFFFFF"/>
                </a:solidFill>
                <a:latin typeface="Inter"/>
              </a:rPr>
              <a:t>Rời rạc</a:t>
            </a:r>
          </a:p>
        </p:txBody>
      </p:sp>
      <p:sp>
        <p:nvSpPr>
          <p:cNvPr id="22" name="TextBox 21"/>
          <p:cNvSpPr txBox="1"/>
          <p:nvPr/>
        </p:nvSpPr>
        <p:spPr>
          <a:xfrm>
            <a:off x="5197320" y="4233862"/>
            <a:ext cx="2122012" cy="209550"/>
          </a:xfrm>
          <a:prstGeom prst="rect">
            <a:avLst/>
          </a:prstGeom>
          <a:noFill/>
        </p:spPr>
        <p:txBody>
          <a:bodyPr wrap="square" lIns="0" rIns="0" tIns="0" bIns="0"/>
          <a:lstStyle/>
          <a:p>
            <a:pPr algn="l"/>
            <a:r>
              <a:rPr sz="100" b="1">
                <a:solidFill>
                  <a:srgbClr val="FFFFFF"/>
                </a:solidFill>
                <a:latin typeface="Inter"/>
              </a:rPr>
              <a:t>Nguồn tài liệu phân mảnh</a:t>
            </a:r>
          </a:p>
        </p:txBody>
      </p:sp>
      <p:sp>
        <p:nvSpPr>
          <p:cNvPr id="23" name="TextBox 22"/>
          <p:cNvSpPr txBox="1"/>
          <p:nvPr/>
        </p:nvSpPr>
        <p:spPr>
          <a:xfrm>
            <a:off x="4578210" y="4719637"/>
            <a:ext cx="3035199" cy="457200"/>
          </a:xfrm>
          <a:prstGeom prst="rect">
            <a:avLst/>
          </a:prstGeom>
          <a:noFill/>
        </p:spPr>
        <p:txBody>
          <a:bodyPr wrap="square" lIns="0" rIns="0" tIns="0" bIns="0"/>
          <a:lstStyle/>
          <a:p>
            <a:pPr algn="l"/>
            <a:r>
              <a:rPr sz="100" b="0">
                <a:solidFill>
                  <a:srgbClr val="FFFFFF"/>
                </a:solidFill>
                <a:latin typeface="Inter"/>
              </a:rPr>
              <a:t>Tài liệu phân tán khó tổng hợp kiến thức từ nhiều nguồn khác nhau.</a:t>
            </a:r>
          </a:p>
        </p:txBody>
      </p:sp>
      <p:sp>
        <p:nvSpPr>
          <p:cNvPr id="24" name="TextBox 23"/>
          <p:cNvSpPr txBox="1"/>
          <p:nvPr/>
        </p:nvSpPr>
        <p:spPr>
          <a:xfrm>
            <a:off x="4578210" y="5476875"/>
            <a:ext cx="551022" cy="161924"/>
          </a:xfrm>
          <a:prstGeom prst="rect">
            <a:avLst/>
          </a:prstGeom>
          <a:noFill/>
        </p:spPr>
        <p:txBody>
          <a:bodyPr wrap="square" lIns="0" rIns="0" tIns="0" bIns="0"/>
          <a:lstStyle/>
          <a:p>
            <a:pPr algn="l"/>
            <a:r>
              <a:rPr sz="100" b="0">
                <a:solidFill>
                  <a:srgbClr val="FFFFFF"/>
                </a:solidFill>
                <a:latin typeface="Inter"/>
              </a:rPr>
              <a:t>Tích hợp</a:t>
            </a:r>
          </a:p>
        </p:txBody>
      </p:sp>
      <p:sp>
        <p:nvSpPr>
          <p:cNvPr id="25" name="TextBox 24"/>
          <p:cNvSpPr txBox="1"/>
          <p:nvPr/>
        </p:nvSpPr>
        <p:spPr>
          <a:xfrm>
            <a:off x="7300804" y="5472112"/>
            <a:ext cx="312605" cy="171450"/>
          </a:xfrm>
          <a:prstGeom prst="rect">
            <a:avLst/>
          </a:prstGeom>
          <a:noFill/>
        </p:spPr>
        <p:txBody>
          <a:bodyPr wrap="square" lIns="0" rIns="0" tIns="0" bIns="0"/>
          <a:lstStyle/>
          <a:p>
            <a:pPr algn="l"/>
            <a:r>
              <a:rPr sz="100" b="1">
                <a:solidFill>
                  <a:srgbClr val="FFFFFF"/>
                </a:solidFill>
                <a:latin typeface="Inter"/>
              </a:rPr>
              <a:t>Kém</a:t>
            </a:r>
          </a:p>
        </p:txBody>
      </p:sp>
      <p:sp>
        <p:nvSpPr>
          <p:cNvPr id="26" name="TextBox 25"/>
          <p:cNvSpPr txBox="1"/>
          <p:nvPr/>
        </p:nvSpPr>
        <p:spPr>
          <a:xfrm>
            <a:off x="9023074" y="4233862"/>
            <a:ext cx="1478198" cy="209550"/>
          </a:xfrm>
          <a:prstGeom prst="rect">
            <a:avLst/>
          </a:prstGeom>
          <a:noFill/>
        </p:spPr>
        <p:txBody>
          <a:bodyPr wrap="square" lIns="0" rIns="0" tIns="0" bIns="0"/>
          <a:lstStyle/>
          <a:p>
            <a:pPr algn="l"/>
            <a:r>
              <a:rPr sz="100" b="1">
                <a:solidFill>
                  <a:srgbClr val="FFFFFF"/>
                </a:solidFill>
                <a:latin typeface="Inter"/>
              </a:rPr>
              <a:t>Thời gian hạn chế</a:t>
            </a:r>
          </a:p>
        </p:txBody>
      </p:sp>
      <p:sp>
        <p:nvSpPr>
          <p:cNvPr id="27" name="TextBox 26"/>
          <p:cNvSpPr txBox="1"/>
          <p:nvPr/>
        </p:nvSpPr>
        <p:spPr>
          <a:xfrm>
            <a:off x="8403965" y="4719637"/>
            <a:ext cx="3035199" cy="457200"/>
          </a:xfrm>
          <a:prstGeom prst="rect">
            <a:avLst/>
          </a:prstGeom>
          <a:noFill/>
        </p:spPr>
        <p:txBody>
          <a:bodyPr wrap="square" lIns="0" rIns="0" tIns="0" bIns="0"/>
          <a:lstStyle/>
          <a:p>
            <a:pPr algn="l"/>
            <a:r>
              <a:rPr sz="100" b="0">
                <a:solidFill>
                  <a:srgbClr val="FFFFFF"/>
                </a:solidFill>
                <a:latin typeface="Inter"/>
              </a:rPr>
              <a:t>Chỉ 15 phút đọc sách/ngày, không đủ để nắm bắt kiến thức sâu.</a:t>
            </a:r>
          </a:p>
        </p:txBody>
      </p:sp>
      <p:sp>
        <p:nvSpPr>
          <p:cNvPr id="28" name="TextBox 27"/>
          <p:cNvSpPr txBox="1"/>
          <p:nvPr/>
        </p:nvSpPr>
        <p:spPr>
          <a:xfrm>
            <a:off x="8403965" y="5476875"/>
            <a:ext cx="582052" cy="161924"/>
          </a:xfrm>
          <a:prstGeom prst="rect">
            <a:avLst/>
          </a:prstGeom>
          <a:noFill/>
        </p:spPr>
        <p:txBody>
          <a:bodyPr wrap="square" lIns="0" rIns="0" tIns="0" bIns="0"/>
          <a:lstStyle/>
          <a:p>
            <a:pPr algn="l"/>
            <a:r>
              <a:rPr sz="100" b="0">
                <a:solidFill>
                  <a:srgbClr val="FFFFFF"/>
                </a:solidFill>
                <a:latin typeface="Inter"/>
              </a:rPr>
              <a:t>Thời gian</a:t>
            </a:r>
          </a:p>
        </p:txBody>
      </p:sp>
      <p:sp>
        <p:nvSpPr>
          <p:cNvPr id="29" name="TextBox 28"/>
          <p:cNvSpPr txBox="1"/>
          <p:nvPr/>
        </p:nvSpPr>
        <p:spPr>
          <a:xfrm>
            <a:off x="10934575" y="5472112"/>
            <a:ext cx="504589" cy="171450"/>
          </a:xfrm>
          <a:prstGeom prst="rect">
            <a:avLst/>
          </a:prstGeom>
          <a:noFill/>
        </p:spPr>
        <p:txBody>
          <a:bodyPr wrap="square" lIns="0" rIns="0" tIns="0" bIns="0"/>
          <a:lstStyle/>
          <a:p>
            <a:pPr algn="l"/>
            <a:r>
              <a:rPr sz="100" b="1">
                <a:solidFill>
                  <a:srgbClr val="FFFFFF"/>
                </a:solidFill>
                <a:latin typeface="Inter"/>
              </a:rPr>
              <a:t>15 phút</a:t>
            </a:r>
          </a:p>
        </p:txBody>
      </p:sp>
      <p:sp>
        <p:nvSpPr>
          <p:cNvPr id="30" name="TextBox 29"/>
          <p:cNvSpPr txBox="1"/>
          <p:nvPr/>
        </p:nvSpPr>
        <p:spPr>
          <a:xfrm>
            <a:off x="1295367" y="6469856"/>
            <a:ext cx="4452826" cy="185737"/>
          </a:xfrm>
          <a:prstGeom prst="rect">
            <a:avLst/>
          </a:prstGeom>
          <a:noFill/>
        </p:spPr>
        <p:txBody>
          <a:bodyPr wrap="square" lIns="0" rIns="0" tIns="0" bIns="0"/>
          <a:lstStyle/>
          <a:p>
            <a:pPr algn="l"/>
            <a:r>
              <a:rPr sz="100" b="1">
                <a:solidFill>
                  <a:srgbClr val="FFFFFF"/>
                </a:solidFill>
                <a:latin typeface="Inter"/>
              </a:rPr>
              <a:t>Giải pháp AI</a:t>
            </a:r>
          </a:p>
        </p:txBody>
      </p:sp>
      <p:sp>
        <p:nvSpPr>
          <p:cNvPr id="31" name="TextBox 30"/>
          <p:cNvSpPr txBox="1"/>
          <p:nvPr/>
        </p:nvSpPr>
        <p:spPr>
          <a:xfrm>
            <a:off x="1295367" y="6674643"/>
            <a:ext cx="4452826" cy="161924"/>
          </a:xfrm>
          <a:prstGeom prst="rect">
            <a:avLst/>
          </a:prstGeom>
          <a:noFill/>
        </p:spPr>
        <p:txBody>
          <a:bodyPr wrap="square" lIns="0" rIns="0" tIns="0" bIns="0"/>
          <a:lstStyle/>
          <a:p>
            <a:pPr algn="l"/>
            <a:r>
              <a:rPr sz="100" b="0">
                <a:solidFill>
                  <a:srgbClr val="FFFFFF"/>
                </a:solidFill>
                <a:latin typeface="Inter"/>
              </a:rPr>
              <a:t>Ứng dụng RAG để trích dẫn chính xác từ nội dung sách</a:t>
            </a:r>
          </a:p>
        </p:txBody>
      </p:sp>
      <p:sp>
        <p:nvSpPr>
          <p:cNvPr id="32" name="TextBox 31"/>
          <p:cNvSpPr txBox="1"/>
          <p:nvPr/>
        </p:nvSpPr>
        <p:spPr>
          <a:xfrm>
            <a:off x="7034036" y="6469856"/>
            <a:ext cx="4452826" cy="185737"/>
          </a:xfrm>
          <a:prstGeom prst="rect">
            <a:avLst/>
          </a:prstGeom>
          <a:noFill/>
        </p:spPr>
        <p:txBody>
          <a:bodyPr wrap="square" lIns="0" rIns="0" tIns="0" bIns="0"/>
          <a:lstStyle/>
          <a:p>
            <a:pPr algn="l"/>
            <a:r>
              <a:rPr sz="100" b="1">
                <a:solidFill>
                  <a:srgbClr val="FFFFFF"/>
                </a:solidFill>
                <a:latin typeface="Inter"/>
              </a:rPr>
              <a:t>Đối tượng</a:t>
            </a:r>
          </a:p>
        </p:txBody>
      </p:sp>
      <p:sp>
        <p:nvSpPr>
          <p:cNvPr id="33" name="TextBox 32"/>
          <p:cNvSpPr txBox="1"/>
          <p:nvPr/>
        </p:nvSpPr>
        <p:spPr>
          <a:xfrm>
            <a:off x="7034036" y="6674643"/>
            <a:ext cx="4452826" cy="161924"/>
          </a:xfrm>
          <a:prstGeom prst="rect">
            <a:avLst/>
          </a:prstGeom>
          <a:noFill/>
        </p:spPr>
        <p:txBody>
          <a:bodyPr wrap="square" lIns="0" rIns="0" tIns="0" bIns="0"/>
          <a:lstStyle/>
          <a:p>
            <a:pPr algn="l"/>
            <a:r>
              <a:rPr sz="100" b="0">
                <a:solidFill>
                  <a:srgbClr val="FFFFFF"/>
                </a:solidFill>
                <a:latin typeface="Inter"/>
              </a:rPr>
              <a:t>Sinh viên PTIT và các trường đại học kỹ thuật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1142971" y="380999"/>
            <a:ext cx="3126800" cy="366712"/>
          </a:xfrm>
          <a:prstGeom prst="rect">
            <a:avLst/>
          </a:prstGeom>
          <a:noFill/>
        </p:spPr>
        <p:txBody>
          <a:bodyPr wrap="square" lIns="0" rIns="0" tIns="0" bIns="0"/>
          <a:lstStyle/>
          <a:p>
            <a:pPr algn="l"/>
            <a:r>
              <a:rPr sz="100" b="1">
                <a:solidFill>
                  <a:srgbClr val="FFFFFF"/>
                </a:solidFill>
                <a:latin typeface="Inter"/>
              </a:rPr>
              <a:t>Giới thiệu Quillora</a:t>
            </a:r>
          </a:p>
        </p:txBody>
      </p:sp>
      <p:sp>
        <p:nvSpPr>
          <p:cNvPr id="4" name="TextBox 3"/>
          <p:cNvSpPr txBox="1"/>
          <p:nvPr/>
        </p:nvSpPr>
        <p:spPr>
          <a:xfrm>
            <a:off x="1142971" y="766762"/>
            <a:ext cx="3126800" cy="185737"/>
          </a:xfrm>
          <a:prstGeom prst="rect">
            <a:avLst/>
          </a:prstGeom>
          <a:noFill/>
        </p:spPr>
        <p:txBody>
          <a:bodyPr wrap="square" lIns="0" rIns="0" tIns="0" bIns="0"/>
          <a:lstStyle/>
          <a:p>
            <a:pPr algn="l"/>
            <a:r>
              <a:rPr sz="100" b="0">
                <a:solidFill>
                  <a:srgbClr val="FFFFFF"/>
                </a:solidFill>
                <a:latin typeface="Inter"/>
              </a:rPr>
              <a:t>Nền tảng đọc sách thông minh ứng dụng AI</a:t>
            </a:r>
          </a:p>
        </p:txBody>
      </p:sp>
      <p:sp>
        <p:nvSpPr>
          <p:cNvPr id="5" name="TextBox 4"/>
          <p:cNvSpPr txBox="1"/>
          <p:nvPr/>
        </p:nvSpPr>
        <p:spPr>
          <a:xfrm>
            <a:off x="9451391" y="573881"/>
            <a:ext cx="2168818" cy="185737"/>
          </a:xfrm>
          <a:prstGeom prst="rect">
            <a:avLst/>
          </a:prstGeom>
          <a:noFill/>
        </p:spPr>
        <p:txBody>
          <a:bodyPr wrap="square" lIns="0" rIns="0" tIns="0" bIns="0"/>
          <a:lstStyle/>
          <a:p>
            <a:pPr algn="l"/>
            <a:r>
              <a:rPr sz="100" b="0">
                <a:solidFill>
                  <a:srgbClr val="FFFFFF"/>
                </a:solidFill>
                <a:latin typeface="Inter"/>
              </a:rPr>
              <a:t>Ngày hội Đọc sách PTIT 2026</a:t>
            </a:r>
          </a:p>
        </p:txBody>
      </p:sp>
      <p:sp>
        <p:nvSpPr>
          <p:cNvPr id="6" name="TextBox 5"/>
          <p:cNvSpPr txBox="1"/>
          <p:nvPr/>
        </p:nvSpPr>
        <p:spPr>
          <a:xfrm>
            <a:off x="571485" y="1190625"/>
            <a:ext cx="11048723" cy="586680"/>
          </a:xfrm>
          <a:prstGeom prst="rect">
            <a:avLst/>
          </a:prstGeom>
          <a:noFill/>
        </p:spPr>
        <p:txBody>
          <a:bodyPr wrap="square" lIns="0" rIns="0" tIns="0" bIns="0"/>
          <a:lstStyle/>
          <a:p>
            <a:pPr algn="ctr"/>
            <a:r>
              <a:rPr sz="100" b="1">
                <a:solidFill>
                  <a:srgbClr val="FFFFFF"/>
                </a:solidFill>
                <a:latin typeface="Inter"/>
              </a:rPr>
              <a:t>Quillora là gì?</a:t>
            </a:r>
          </a:p>
        </p:txBody>
      </p:sp>
      <p:sp>
        <p:nvSpPr>
          <p:cNvPr id="7" name="TextBox 6"/>
          <p:cNvSpPr txBox="1"/>
          <p:nvPr/>
        </p:nvSpPr>
        <p:spPr>
          <a:xfrm>
            <a:off x="1571585" y="1920180"/>
            <a:ext cx="9048523" cy="571500"/>
          </a:xfrm>
          <a:prstGeom prst="rect">
            <a:avLst/>
          </a:prstGeom>
          <a:noFill/>
        </p:spPr>
        <p:txBody>
          <a:bodyPr wrap="square" lIns="0" rIns="0" tIns="0" bIns="0"/>
          <a:lstStyle/>
          <a:p>
            <a:pPr algn="ctr"/>
            <a:r>
              <a:rPr sz="100" b="0">
                <a:solidFill>
                  <a:srgbClr val="FFFFFF"/>
                </a:solidFill>
                <a:latin typeface="Inter"/>
              </a:rPr>
              <a:t>Quillora là nền tảng đọc sách thông minh ứng dụng AI tạo sinh (Generative AI) kết hợp kỹ thuật RAG (Retrieval-Augmented Generation), biến mỗi cuốn sách thành một trợ lý học tập cá nhân thông minh.</a:t>
            </a:r>
          </a:p>
        </p:txBody>
      </p:sp>
      <p:sp>
        <p:nvSpPr>
          <p:cNvPr id="8" name="TextBox 7"/>
          <p:cNvSpPr txBox="1"/>
          <p:nvPr/>
        </p:nvSpPr>
        <p:spPr>
          <a:xfrm>
            <a:off x="1438239" y="3122711"/>
            <a:ext cx="2675416" cy="280987"/>
          </a:xfrm>
          <a:prstGeom prst="rect">
            <a:avLst/>
          </a:prstGeom>
          <a:noFill/>
        </p:spPr>
        <p:txBody>
          <a:bodyPr wrap="square" lIns="0" rIns="0" tIns="0" bIns="0"/>
          <a:lstStyle/>
          <a:p>
            <a:pPr algn="l"/>
            <a:r>
              <a:rPr sz="100" b="1">
                <a:solidFill>
                  <a:srgbClr val="FFFFFF"/>
                </a:solidFill>
                <a:latin typeface="Inter"/>
              </a:rPr>
              <a:t>Định nghĩa &amp; Công nghệ</a:t>
            </a:r>
          </a:p>
        </p:txBody>
      </p:sp>
      <p:sp>
        <p:nvSpPr>
          <p:cNvPr id="9" name="TextBox 8"/>
          <p:cNvSpPr txBox="1"/>
          <p:nvPr/>
        </p:nvSpPr>
        <p:spPr>
          <a:xfrm>
            <a:off x="914377" y="3644205"/>
            <a:ext cx="10362940" cy="777106"/>
          </a:xfrm>
          <a:prstGeom prst="rect">
            <a:avLst/>
          </a:prstGeom>
          <a:noFill/>
        </p:spPr>
        <p:txBody>
          <a:bodyPr wrap="square" lIns="0" rIns="0" tIns="0" bIns="0"/>
          <a:lstStyle/>
          <a:p>
            <a:pPr algn="l"/>
            <a:r>
              <a:rPr sz="100" b="0">
                <a:solidFill>
                  <a:srgbClr val="FFFFFF"/>
                </a:solidFill>
                <a:latin typeface="Inter"/>
              </a:rPr>
              <a:t>Quillora sử dụng AI + RAG để cung cấp câu trả lời chính xác, có trích dẫn từ nội dung sách, giúp sinh viên tiếp cận kiến thức một cách chủ động và hiệu quả. Hệ thống kết hợp khả năng tìm kiếm ngữ nghĩa thông minh với tạo nội dung AI để mang lại trải nghiệm học tập tối ưu.</a:t>
            </a:r>
          </a:p>
        </p:txBody>
      </p:sp>
      <p:sp>
        <p:nvSpPr>
          <p:cNvPr id="10" name="TextBox 9"/>
          <p:cNvSpPr txBox="1"/>
          <p:nvPr/>
        </p:nvSpPr>
        <p:spPr>
          <a:xfrm>
            <a:off x="1609684" y="4964236"/>
            <a:ext cx="1360775" cy="209550"/>
          </a:xfrm>
          <a:prstGeom prst="rect">
            <a:avLst/>
          </a:prstGeom>
          <a:noFill/>
        </p:spPr>
        <p:txBody>
          <a:bodyPr wrap="square" lIns="0" rIns="0" tIns="0" bIns="0"/>
          <a:lstStyle/>
          <a:p>
            <a:pPr algn="l"/>
            <a:r>
              <a:rPr sz="100" b="1">
                <a:solidFill>
                  <a:srgbClr val="FFFFFF"/>
                </a:solidFill>
                <a:latin typeface="Inter"/>
              </a:rPr>
              <a:t>Trả lời chính xác</a:t>
            </a:r>
          </a:p>
        </p:txBody>
      </p:sp>
      <p:sp>
        <p:nvSpPr>
          <p:cNvPr id="11" name="TextBox 10"/>
          <p:cNvSpPr txBox="1"/>
          <p:nvPr/>
        </p:nvSpPr>
        <p:spPr>
          <a:xfrm>
            <a:off x="1152496" y="5354761"/>
            <a:ext cx="2819329" cy="428625"/>
          </a:xfrm>
          <a:prstGeom prst="rect">
            <a:avLst/>
          </a:prstGeom>
          <a:noFill/>
        </p:spPr>
        <p:txBody>
          <a:bodyPr wrap="square" lIns="0" rIns="0" tIns="0" bIns="0"/>
          <a:lstStyle/>
          <a:p>
            <a:pPr algn="l"/>
            <a:r>
              <a:rPr sz="100" b="0">
                <a:solidFill>
                  <a:srgbClr val="FFFFFF"/>
                </a:solidFill>
                <a:latin typeface="Inter"/>
              </a:rPr>
              <a:t>Có trích dẫn từ chương/trang, giảm thiểu tối đa tình trạng ảo giác AI.</a:t>
            </a:r>
          </a:p>
        </p:txBody>
      </p:sp>
      <p:sp>
        <p:nvSpPr>
          <p:cNvPr id="12" name="TextBox 11"/>
          <p:cNvSpPr txBox="1"/>
          <p:nvPr/>
        </p:nvSpPr>
        <p:spPr>
          <a:xfrm>
            <a:off x="5143371" y="4964236"/>
            <a:ext cx="1616158" cy="209550"/>
          </a:xfrm>
          <a:prstGeom prst="rect">
            <a:avLst/>
          </a:prstGeom>
          <a:noFill/>
        </p:spPr>
        <p:txBody>
          <a:bodyPr wrap="square" lIns="0" rIns="0" tIns="0" bIns="0"/>
          <a:lstStyle/>
          <a:p>
            <a:pPr algn="l"/>
            <a:r>
              <a:rPr sz="100" b="1">
                <a:solidFill>
                  <a:srgbClr val="FFFFFF"/>
                </a:solidFill>
                <a:latin typeface="Inter"/>
              </a:rPr>
              <a:t>Tóm tắt thông minh</a:t>
            </a:r>
          </a:p>
        </p:txBody>
      </p:sp>
      <p:sp>
        <p:nvSpPr>
          <p:cNvPr id="13" name="TextBox 12"/>
          <p:cNvSpPr txBox="1"/>
          <p:nvPr/>
        </p:nvSpPr>
        <p:spPr>
          <a:xfrm>
            <a:off x="4686182" y="5354761"/>
            <a:ext cx="2819329" cy="428625"/>
          </a:xfrm>
          <a:prstGeom prst="rect">
            <a:avLst/>
          </a:prstGeom>
          <a:noFill/>
        </p:spPr>
        <p:txBody>
          <a:bodyPr wrap="square" lIns="0" rIns="0" tIns="0" bIns="0"/>
          <a:lstStyle/>
          <a:p>
            <a:pPr algn="l"/>
            <a:r>
              <a:rPr sz="100" b="0">
                <a:solidFill>
                  <a:srgbClr val="FFFFFF"/>
                </a:solidFill>
                <a:latin typeface="Inter"/>
              </a:rPr>
              <a:t>Tóm tắt nội dung chính ~200 từ, tự động tạo câu hỏi ôn tập &amp; flashcard.</a:t>
            </a:r>
          </a:p>
        </p:txBody>
      </p:sp>
      <p:sp>
        <p:nvSpPr>
          <p:cNvPr id="14" name="TextBox 13"/>
          <p:cNvSpPr txBox="1"/>
          <p:nvPr/>
        </p:nvSpPr>
        <p:spPr>
          <a:xfrm>
            <a:off x="8677058" y="4964236"/>
            <a:ext cx="2194415" cy="209550"/>
          </a:xfrm>
          <a:prstGeom prst="rect">
            <a:avLst/>
          </a:prstGeom>
          <a:noFill/>
        </p:spPr>
        <p:txBody>
          <a:bodyPr wrap="square" lIns="0" rIns="0" tIns="0" bIns="0"/>
          <a:lstStyle/>
          <a:p>
            <a:pPr algn="l"/>
            <a:r>
              <a:rPr sz="100" b="1">
                <a:solidFill>
                  <a:srgbClr val="FFFFFF"/>
                </a:solidFill>
                <a:latin typeface="Inter"/>
              </a:rPr>
              <a:t>Tương tác đa phương thức</a:t>
            </a:r>
          </a:p>
        </p:txBody>
      </p:sp>
      <p:sp>
        <p:nvSpPr>
          <p:cNvPr id="15" name="TextBox 14"/>
          <p:cNvSpPr txBox="1"/>
          <p:nvPr/>
        </p:nvSpPr>
        <p:spPr>
          <a:xfrm>
            <a:off x="8219869" y="5354761"/>
            <a:ext cx="2819329" cy="428625"/>
          </a:xfrm>
          <a:prstGeom prst="rect">
            <a:avLst/>
          </a:prstGeom>
          <a:noFill/>
        </p:spPr>
        <p:txBody>
          <a:bodyPr wrap="square" lIns="0" rIns="0" tIns="0" bIns="0"/>
          <a:lstStyle/>
          <a:p>
            <a:pPr algn="l"/>
            <a:r>
              <a:rPr sz="100" b="0">
                <a:solidFill>
                  <a:srgbClr val="FFFFFF"/>
                </a:solidFill>
                <a:latin typeface="Inter"/>
              </a:rPr>
              <a:t>Hỗ trợ đặt câu hỏi qua văn bản, giọng nói và tìm kiếm ngữ nghĩa nâng cao.</a:t>
            </a:r>
          </a:p>
        </p:txBody>
      </p:sp>
      <p:sp>
        <p:nvSpPr>
          <p:cNvPr id="16" name="TextBox 15"/>
          <p:cNvSpPr txBox="1"/>
          <p:nvPr/>
        </p:nvSpPr>
        <p:spPr>
          <a:xfrm>
            <a:off x="819129" y="7059736"/>
            <a:ext cx="10553436" cy="257175"/>
          </a:xfrm>
          <a:prstGeom prst="rect">
            <a:avLst/>
          </a:prstGeom>
          <a:noFill/>
        </p:spPr>
        <p:txBody>
          <a:bodyPr wrap="square" lIns="0" rIns="0" tIns="0" bIns="0"/>
          <a:lstStyle/>
          <a:p>
            <a:pPr algn="ctr"/>
            <a:r>
              <a:rPr sz="100" b="1">
                <a:solidFill>
                  <a:srgbClr val="FFFFFF"/>
                </a:solidFill>
                <a:latin typeface="Inter"/>
              </a:rPr>
              <a:t>"Biến mỗi cuốn sách thành trợ lý học tập cá nhân"</a:t>
            </a:r>
          </a:p>
        </p:txBody>
      </p:sp>
      <p:sp>
        <p:nvSpPr>
          <p:cNvPr id="17" name="TextBox 16"/>
          <p:cNvSpPr txBox="1"/>
          <p:nvPr/>
        </p:nvSpPr>
        <p:spPr>
          <a:xfrm>
            <a:off x="819129" y="7459786"/>
            <a:ext cx="10553436" cy="333375"/>
          </a:xfrm>
          <a:prstGeom prst="rect">
            <a:avLst/>
          </a:prstGeom>
          <a:noFill/>
        </p:spPr>
        <p:txBody>
          <a:bodyPr wrap="square" lIns="0" rIns="0" tIns="0" bIns="0"/>
          <a:lstStyle/>
          <a:p>
            <a:pPr algn="ctr"/>
            <a:r>
              <a:rPr sz="100" b="0">
                <a:solidFill>
                  <a:srgbClr val="FFFFFF"/>
                </a:solidFill>
                <a:latin typeface="Inter"/>
              </a:rPr>
              <a:t>AI Assistant</a:t>
            </a:r>
          </a:p>
          <a:p>
            <a:pPr algn="ctr"/>
            <a:r>
              <a:rPr sz="100" b="0">
                <a:solidFill>
                  <a:srgbClr val="FFFFFF"/>
                </a:solidFill>
                <a:latin typeface="Inter"/>
              </a:rPr>
              <a:t>RAG Technology</a:t>
            </a:r>
          </a:p>
          <a:p>
            <a:pPr algn="ctr"/>
            <a:r>
              <a:rPr sz="100" b="0">
                <a:solidFill>
                  <a:srgbClr val="FFFFFF"/>
                </a:solidFill>
                <a:latin typeface="Inter"/>
              </a:rPr>
              <a:t>Smart Learning</a:t>
            </a:r>
          </a:p>
          <a:p>
            <a:pPr algn="ctr"/>
            <a:r>
              <a:rPr sz="100" b="0">
                <a:solidFill>
                  <a:srgbClr val="FFFFFF"/>
                </a:solidFill>
                <a:latin typeface="Inter"/>
              </a:rPr>
              <a:t>Interactive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1133446" y="380999"/>
            <a:ext cx="6707962" cy="414337"/>
          </a:xfrm>
          <a:prstGeom prst="rect">
            <a:avLst/>
          </a:prstGeom>
          <a:noFill/>
        </p:spPr>
        <p:txBody>
          <a:bodyPr wrap="square" lIns="0" rIns="0" tIns="0" bIns="0"/>
          <a:lstStyle/>
          <a:p>
            <a:pPr algn="l"/>
            <a:r>
              <a:rPr sz="100" b="1">
                <a:solidFill>
                  <a:srgbClr val="FFFFFF"/>
                </a:solidFill>
                <a:latin typeface="Inter"/>
              </a:rPr>
              <a:t>Công nghệ RAG hoạt động như thế nào?</a:t>
            </a:r>
          </a:p>
        </p:txBody>
      </p:sp>
      <p:sp>
        <p:nvSpPr>
          <p:cNvPr id="4" name="TextBox 3"/>
          <p:cNvSpPr txBox="1"/>
          <p:nvPr/>
        </p:nvSpPr>
        <p:spPr>
          <a:xfrm>
            <a:off x="1133446" y="814387"/>
            <a:ext cx="6707962" cy="209550"/>
          </a:xfrm>
          <a:prstGeom prst="rect">
            <a:avLst/>
          </a:prstGeom>
          <a:noFill/>
        </p:spPr>
        <p:txBody>
          <a:bodyPr wrap="square" lIns="0" rIns="0" tIns="0" bIns="0"/>
          <a:lstStyle/>
          <a:p>
            <a:pPr algn="l"/>
            <a:r>
              <a:rPr sz="100" b="0">
                <a:solidFill>
                  <a:srgbClr val="FFFFFF"/>
                </a:solidFill>
                <a:latin typeface="Inter"/>
              </a:rPr>
              <a:t>Quy trình 4 bước: Upload → Vector DB → Retrieval → Generation</a:t>
            </a:r>
          </a:p>
        </p:txBody>
      </p:sp>
      <p:sp>
        <p:nvSpPr>
          <p:cNvPr id="5" name="TextBox 4"/>
          <p:cNvSpPr txBox="1"/>
          <p:nvPr/>
        </p:nvSpPr>
        <p:spPr>
          <a:xfrm>
            <a:off x="9532723" y="609600"/>
            <a:ext cx="2182733" cy="185737"/>
          </a:xfrm>
          <a:prstGeom prst="rect">
            <a:avLst/>
          </a:prstGeom>
          <a:noFill/>
        </p:spPr>
        <p:txBody>
          <a:bodyPr wrap="square" lIns="0" rIns="0" tIns="0" bIns="0"/>
          <a:lstStyle/>
          <a:p>
            <a:pPr algn="r"/>
            <a:r>
              <a:rPr sz="100" b="0">
                <a:solidFill>
                  <a:srgbClr val="FFFFFF"/>
                </a:solidFill>
                <a:latin typeface="Inter"/>
              </a:rPr>
              <a:t>Ngày hội Đọc sách PTIT 2026</a:t>
            </a:r>
          </a:p>
        </p:txBody>
      </p:sp>
      <p:sp>
        <p:nvSpPr>
          <p:cNvPr id="6" name="TextBox 5"/>
          <p:cNvSpPr txBox="1"/>
          <p:nvPr/>
        </p:nvSpPr>
        <p:spPr>
          <a:xfrm>
            <a:off x="866753" y="1700212"/>
            <a:ext cx="6446031" cy="280987"/>
          </a:xfrm>
          <a:prstGeom prst="rect">
            <a:avLst/>
          </a:prstGeom>
          <a:noFill/>
        </p:spPr>
        <p:txBody>
          <a:bodyPr wrap="square" lIns="0" rIns="0" tIns="0" bIns="0"/>
          <a:lstStyle/>
          <a:p>
            <a:pPr algn="l"/>
            <a:r>
              <a:rPr sz="100" b="1">
                <a:solidFill>
                  <a:srgbClr val="FFFFFF"/>
                </a:solidFill>
                <a:latin typeface="Inter"/>
              </a:rPr>
              <a:t>Quy trình xử lý RAG (Retrieval-Augmented Generation)</a:t>
            </a:r>
          </a:p>
        </p:txBody>
      </p:sp>
      <p:sp>
        <p:nvSpPr>
          <p:cNvPr id="7" name="TextBox 6"/>
          <p:cNvSpPr txBox="1"/>
          <p:nvPr/>
        </p:nvSpPr>
        <p:spPr>
          <a:xfrm>
            <a:off x="1066773" y="2219325"/>
            <a:ext cx="342891" cy="342900"/>
          </a:xfrm>
          <a:prstGeom prst="rect">
            <a:avLst/>
          </a:prstGeom>
          <a:noFill/>
        </p:spPr>
        <p:txBody>
          <a:bodyPr wrap="square" lIns="0" rIns="0" tIns="0" bIns="0"/>
          <a:lstStyle/>
          <a:p>
            <a:pPr algn="l"/>
            <a:r>
              <a:rPr sz="100" b="1">
                <a:solidFill>
                  <a:srgbClr val="FFFFFF"/>
                </a:solidFill>
                <a:latin typeface="Inter"/>
              </a:rPr>
              <a:t>1</a:t>
            </a:r>
          </a:p>
        </p:txBody>
      </p:sp>
      <p:sp>
        <p:nvSpPr>
          <p:cNvPr id="8" name="TextBox 7"/>
          <p:cNvSpPr txBox="1"/>
          <p:nvPr/>
        </p:nvSpPr>
        <p:spPr>
          <a:xfrm>
            <a:off x="1066773" y="3171825"/>
            <a:ext cx="1964482" cy="209550"/>
          </a:xfrm>
          <a:prstGeom prst="rect">
            <a:avLst/>
          </a:prstGeom>
          <a:noFill/>
        </p:spPr>
        <p:txBody>
          <a:bodyPr wrap="square" lIns="0" rIns="0" tIns="0" bIns="0"/>
          <a:lstStyle/>
          <a:p>
            <a:pPr algn="l"/>
            <a:r>
              <a:rPr sz="100" b="1">
                <a:solidFill>
                  <a:srgbClr val="FFFFFF"/>
                </a:solidFill>
                <a:latin typeface="Inter"/>
              </a:rPr>
              <a:t>Upload tài liệu</a:t>
            </a:r>
          </a:p>
        </p:txBody>
      </p:sp>
      <p:sp>
        <p:nvSpPr>
          <p:cNvPr id="9" name="TextBox 8"/>
          <p:cNvSpPr txBox="1"/>
          <p:nvPr/>
        </p:nvSpPr>
        <p:spPr>
          <a:xfrm>
            <a:off x="1066773" y="3495675"/>
            <a:ext cx="1964482" cy="800100"/>
          </a:xfrm>
          <a:prstGeom prst="rect">
            <a:avLst/>
          </a:prstGeom>
          <a:noFill/>
        </p:spPr>
        <p:txBody>
          <a:bodyPr wrap="square" lIns="0" rIns="0" tIns="0" bIns="0"/>
          <a:lstStyle/>
          <a:p>
            <a:pPr algn="l"/>
            <a:r>
              <a:rPr sz="100" b="0">
                <a:solidFill>
                  <a:srgbClr val="FFFFFF"/>
                </a:solidFill>
                <a:latin typeface="Inter"/>
              </a:rPr>
              <a:t>Hệ thống tiếp nhận tài liệu/sách từ người dùng, hỗ trợ nhiều định dạng file (PDF, DOC, TXT)</a:t>
            </a:r>
          </a:p>
        </p:txBody>
      </p:sp>
      <p:sp>
        <p:nvSpPr>
          <p:cNvPr id="10" name="TextBox 9"/>
          <p:cNvSpPr txBox="1"/>
          <p:nvPr/>
        </p:nvSpPr>
        <p:spPr>
          <a:xfrm>
            <a:off x="3764662" y="2219325"/>
            <a:ext cx="342891" cy="342900"/>
          </a:xfrm>
          <a:prstGeom prst="rect">
            <a:avLst/>
          </a:prstGeom>
          <a:noFill/>
        </p:spPr>
        <p:txBody>
          <a:bodyPr wrap="square" lIns="0" rIns="0" tIns="0" bIns="0"/>
          <a:lstStyle/>
          <a:p>
            <a:pPr algn="l"/>
            <a:r>
              <a:rPr sz="100" b="1">
                <a:solidFill>
                  <a:srgbClr val="FFFFFF"/>
                </a:solidFill>
                <a:latin typeface="Inter"/>
              </a:rPr>
              <a:t>2</a:t>
            </a:r>
          </a:p>
        </p:txBody>
      </p:sp>
      <p:sp>
        <p:nvSpPr>
          <p:cNvPr id="11" name="TextBox 10"/>
          <p:cNvSpPr txBox="1"/>
          <p:nvPr/>
        </p:nvSpPr>
        <p:spPr>
          <a:xfrm>
            <a:off x="3764662" y="3171825"/>
            <a:ext cx="1964482" cy="209550"/>
          </a:xfrm>
          <a:prstGeom prst="rect">
            <a:avLst/>
          </a:prstGeom>
          <a:noFill/>
        </p:spPr>
        <p:txBody>
          <a:bodyPr wrap="square" lIns="0" rIns="0" tIns="0" bIns="0"/>
          <a:lstStyle/>
          <a:p>
            <a:pPr algn="l"/>
            <a:r>
              <a:rPr sz="100" b="1">
                <a:solidFill>
                  <a:srgbClr val="FFFFFF"/>
                </a:solidFill>
                <a:latin typeface="Inter"/>
              </a:rPr>
              <a:t>Chia nhỏ &amp; Vector DB</a:t>
            </a:r>
          </a:p>
        </p:txBody>
      </p:sp>
      <p:sp>
        <p:nvSpPr>
          <p:cNvPr id="12" name="TextBox 11"/>
          <p:cNvSpPr txBox="1"/>
          <p:nvPr/>
        </p:nvSpPr>
        <p:spPr>
          <a:xfrm>
            <a:off x="3764662" y="3495675"/>
            <a:ext cx="1964482" cy="600075"/>
          </a:xfrm>
          <a:prstGeom prst="rect">
            <a:avLst/>
          </a:prstGeom>
          <a:noFill/>
        </p:spPr>
        <p:txBody>
          <a:bodyPr wrap="square" lIns="0" rIns="0" tIns="0" bIns="0"/>
          <a:lstStyle/>
          <a:p>
            <a:pPr algn="l"/>
            <a:r>
              <a:rPr sz="100" b="0">
                <a:solidFill>
                  <a:srgbClr val="FFFFFF"/>
                </a:solidFill>
                <a:latin typeface="Inter"/>
              </a:rPr>
              <a:t>Chia nhỏ đoạn văn bản, nhúng vector và lưu vào cơ sở dữ liệu vector</a:t>
            </a:r>
          </a:p>
        </p:txBody>
      </p:sp>
      <p:sp>
        <p:nvSpPr>
          <p:cNvPr id="13" name="TextBox 12"/>
          <p:cNvSpPr txBox="1"/>
          <p:nvPr/>
        </p:nvSpPr>
        <p:spPr>
          <a:xfrm>
            <a:off x="6462550" y="2219325"/>
            <a:ext cx="342891" cy="342900"/>
          </a:xfrm>
          <a:prstGeom prst="rect">
            <a:avLst/>
          </a:prstGeom>
          <a:noFill/>
        </p:spPr>
        <p:txBody>
          <a:bodyPr wrap="square" lIns="0" rIns="0" tIns="0" bIns="0"/>
          <a:lstStyle/>
          <a:p>
            <a:pPr algn="l"/>
            <a:r>
              <a:rPr sz="100" b="1">
                <a:solidFill>
                  <a:srgbClr val="FFFFFF"/>
                </a:solidFill>
                <a:latin typeface="Inter"/>
              </a:rPr>
              <a:t>3</a:t>
            </a:r>
          </a:p>
        </p:txBody>
      </p:sp>
      <p:sp>
        <p:nvSpPr>
          <p:cNvPr id="14" name="TextBox 13"/>
          <p:cNvSpPr txBox="1"/>
          <p:nvPr/>
        </p:nvSpPr>
        <p:spPr>
          <a:xfrm>
            <a:off x="6462550" y="3171825"/>
            <a:ext cx="1964482" cy="209550"/>
          </a:xfrm>
          <a:prstGeom prst="rect">
            <a:avLst/>
          </a:prstGeom>
          <a:noFill/>
        </p:spPr>
        <p:txBody>
          <a:bodyPr wrap="square" lIns="0" rIns="0" tIns="0" bIns="0"/>
          <a:lstStyle/>
          <a:p>
            <a:pPr algn="l"/>
            <a:r>
              <a:rPr sz="100" b="1">
                <a:solidFill>
                  <a:srgbClr val="FFFFFF"/>
                </a:solidFill>
                <a:latin typeface="Inter"/>
              </a:rPr>
              <a:t>Retrieval ngữ nghĩa</a:t>
            </a:r>
          </a:p>
        </p:txBody>
      </p:sp>
      <p:sp>
        <p:nvSpPr>
          <p:cNvPr id="15" name="TextBox 14"/>
          <p:cNvSpPr txBox="1"/>
          <p:nvPr/>
        </p:nvSpPr>
        <p:spPr>
          <a:xfrm>
            <a:off x="6462550" y="3495675"/>
            <a:ext cx="1964482" cy="400050"/>
          </a:xfrm>
          <a:prstGeom prst="rect">
            <a:avLst/>
          </a:prstGeom>
          <a:noFill/>
        </p:spPr>
        <p:txBody>
          <a:bodyPr wrap="square" lIns="0" rIns="0" tIns="0" bIns="0"/>
          <a:lstStyle/>
          <a:p>
            <a:pPr algn="l"/>
            <a:r>
              <a:rPr sz="100" b="0">
                <a:solidFill>
                  <a:srgbClr val="FFFFFF"/>
                </a:solidFill>
                <a:latin typeface="Inter"/>
              </a:rPr>
              <a:t>Truy hồi các đoạn liên quan theo ngữ nghĩa từ cơ sở dữ liệu</a:t>
            </a:r>
          </a:p>
        </p:txBody>
      </p:sp>
      <p:sp>
        <p:nvSpPr>
          <p:cNvPr id="16" name="TextBox 15"/>
          <p:cNvSpPr txBox="1"/>
          <p:nvPr/>
        </p:nvSpPr>
        <p:spPr>
          <a:xfrm>
            <a:off x="9160439" y="2219325"/>
            <a:ext cx="342891" cy="342900"/>
          </a:xfrm>
          <a:prstGeom prst="rect">
            <a:avLst/>
          </a:prstGeom>
          <a:noFill/>
        </p:spPr>
        <p:txBody>
          <a:bodyPr wrap="square" lIns="0" rIns="0" tIns="0" bIns="0"/>
          <a:lstStyle/>
          <a:p>
            <a:pPr algn="l"/>
            <a:r>
              <a:rPr sz="100" b="1">
                <a:solidFill>
                  <a:srgbClr val="FFFFFF"/>
                </a:solidFill>
                <a:latin typeface="Inter"/>
              </a:rPr>
              <a:t>4</a:t>
            </a:r>
          </a:p>
        </p:txBody>
      </p:sp>
      <p:sp>
        <p:nvSpPr>
          <p:cNvPr id="17" name="TextBox 16"/>
          <p:cNvSpPr txBox="1"/>
          <p:nvPr/>
        </p:nvSpPr>
        <p:spPr>
          <a:xfrm>
            <a:off x="9160439" y="3171825"/>
            <a:ext cx="1964482" cy="209550"/>
          </a:xfrm>
          <a:prstGeom prst="rect">
            <a:avLst/>
          </a:prstGeom>
          <a:noFill/>
        </p:spPr>
        <p:txBody>
          <a:bodyPr wrap="square" lIns="0" rIns="0" tIns="0" bIns="0"/>
          <a:lstStyle/>
          <a:p>
            <a:pPr algn="l"/>
            <a:r>
              <a:rPr sz="100" b="1">
                <a:solidFill>
                  <a:srgbClr val="FFFFFF"/>
                </a:solidFill>
                <a:latin typeface="Inter"/>
              </a:rPr>
              <a:t>Generation</a:t>
            </a:r>
          </a:p>
        </p:txBody>
      </p:sp>
      <p:sp>
        <p:nvSpPr>
          <p:cNvPr id="18" name="TextBox 17"/>
          <p:cNvSpPr txBox="1"/>
          <p:nvPr/>
        </p:nvSpPr>
        <p:spPr>
          <a:xfrm>
            <a:off x="9160439" y="3495675"/>
            <a:ext cx="1964482" cy="400050"/>
          </a:xfrm>
          <a:prstGeom prst="rect">
            <a:avLst/>
          </a:prstGeom>
          <a:noFill/>
        </p:spPr>
        <p:txBody>
          <a:bodyPr wrap="square" lIns="0" rIns="0" tIns="0" bIns="0"/>
          <a:lstStyle/>
          <a:p>
            <a:pPr algn="l"/>
            <a:r>
              <a:rPr sz="100" b="0">
                <a:solidFill>
                  <a:srgbClr val="FFFFFF"/>
                </a:solidFill>
                <a:latin typeface="Inter"/>
              </a:rPr>
              <a:t>Mô hình AI tạo câu trả lời có dẫn nguồn chính xác</a:t>
            </a:r>
          </a:p>
        </p:txBody>
      </p:sp>
      <p:sp>
        <p:nvSpPr>
          <p:cNvPr id="19" name="TextBox 18"/>
          <p:cNvSpPr txBox="1"/>
          <p:nvPr/>
        </p:nvSpPr>
        <p:spPr>
          <a:xfrm>
            <a:off x="1590635" y="5562600"/>
            <a:ext cx="5468478" cy="233362"/>
          </a:xfrm>
          <a:prstGeom prst="rect">
            <a:avLst/>
          </a:prstGeom>
          <a:noFill/>
        </p:spPr>
        <p:txBody>
          <a:bodyPr wrap="square" lIns="0" rIns="0" tIns="0" bIns="0"/>
          <a:lstStyle/>
          <a:p>
            <a:pPr algn="l"/>
            <a:r>
              <a:rPr sz="100" b="1">
                <a:solidFill>
                  <a:srgbClr val="FFFFFF"/>
                </a:solidFill>
                <a:latin typeface="Inter"/>
              </a:rPr>
              <a:t>Kết quả: Câu trả lời chính xác, minh bạch nguồn</a:t>
            </a:r>
          </a:p>
        </p:txBody>
      </p:sp>
      <p:sp>
        <p:nvSpPr>
          <p:cNvPr id="20" name="TextBox 19"/>
          <p:cNvSpPr txBox="1"/>
          <p:nvPr/>
        </p:nvSpPr>
        <p:spPr>
          <a:xfrm>
            <a:off x="1590635" y="5853112"/>
            <a:ext cx="5468478" cy="400050"/>
          </a:xfrm>
          <a:prstGeom prst="rect">
            <a:avLst/>
          </a:prstGeom>
          <a:noFill/>
        </p:spPr>
        <p:txBody>
          <a:bodyPr wrap="square" lIns="0" rIns="0" tIns="0" bIns="0"/>
          <a:lstStyle/>
          <a:p>
            <a:pPr algn="l"/>
            <a:r>
              <a:rPr sz="100" b="0">
                <a:solidFill>
                  <a:srgbClr val="FFFFFF"/>
                </a:solidFill>
                <a:latin typeface="Inter"/>
              </a:rPr>
              <a:t>Hệ thống cung cấp câu trả lời dựa trên nội dung tài liệu, có trích dẫn chương/trang, giảm thiểu ảo giác AI</a:t>
            </a:r>
          </a:p>
        </p:txBody>
      </p:sp>
      <p:sp>
        <p:nvSpPr>
          <p:cNvPr id="21" name="TextBox 20"/>
          <p:cNvSpPr txBox="1"/>
          <p:nvPr/>
        </p:nvSpPr>
        <p:spPr>
          <a:xfrm>
            <a:off x="7297232" y="5741193"/>
            <a:ext cx="820394" cy="333375"/>
          </a:xfrm>
          <a:prstGeom prst="rect">
            <a:avLst/>
          </a:prstGeom>
          <a:noFill/>
        </p:spPr>
        <p:txBody>
          <a:bodyPr wrap="square" lIns="0" rIns="0" tIns="0" bIns="0"/>
          <a:lstStyle/>
          <a:p>
            <a:pPr algn="l"/>
            <a:r>
              <a:rPr sz="100" b="1">
                <a:solidFill>
                  <a:srgbClr val="FFFFFF"/>
                </a:solidFill>
                <a:latin typeface="Inter"/>
              </a:rPr>
              <a:t>Python</a:t>
            </a:r>
          </a:p>
        </p:txBody>
      </p:sp>
      <p:sp>
        <p:nvSpPr>
          <p:cNvPr id="22" name="TextBox 21"/>
          <p:cNvSpPr txBox="1"/>
          <p:nvPr/>
        </p:nvSpPr>
        <p:spPr>
          <a:xfrm>
            <a:off x="8231924" y="5741193"/>
            <a:ext cx="854624" cy="333375"/>
          </a:xfrm>
          <a:prstGeom prst="rect">
            <a:avLst/>
          </a:prstGeom>
          <a:noFill/>
        </p:spPr>
        <p:txBody>
          <a:bodyPr wrap="square" lIns="0" rIns="0" tIns="0" bIns="0"/>
          <a:lstStyle/>
          <a:p>
            <a:pPr algn="l"/>
            <a:r>
              <a:rPr sz="100" b="1">
                <a:solidFill>
                  <a:srgbClr val="FFFFFF"/>
                </a:solidFill>
                <a:latin typeface="Inter"/>
              </a:rPr>
              <a:t>FastAPI</a:t>
            </a:r>
          </a:p>
        </p:txBody>
      </p:sp>
      <p:sp>
        <p:nvSpPr>
          <p:cNvPr id="23" name="TextBox 22"/>
          <p:cNvSpPr txBox="1"/>
          <p:nvPr/>
        </p:nvSpPr>
        <p:spPr>
          <a:xfrm>
            <a:off x="9200845" y="5741193"/>
            <a:ext cx="1051890" cy="333375"/>
          </a:xfrm>
          <a:prstGeom prst="rect">
            <a:avLst/>
          </a:prstGeom>
          <a:noFill/>
        </p:spPr>
        <p:txBody>
          <a:bodyPr wrap="square" lIns="0" rIns="0" tIns="0" bIns="0"/>
          <a:lstStyle/>
          <a:p>
            <a:pPr algn="l"/>
            <a:r>
              <a:rPr sz="100" b="1">
                <a:solidFill>
                  <a:srgbClr val="FFFFFF"/>
                </a:solidFill>
                <a:latin typeface="Inter"/>
              </a:rPr>
              <a:t>LangChain</a:t>
            </a:r>
          </a:p>
        </p:txBody>
      </p:sp>
      <p:sp>
        <p:nvSpPr>
          <p:cNvPr id="24" name="TextBox 23"/>
          <p:cNvSpPr txBox="1"/>
          <p:nvPr/>
        </p:nvSpPr>
        <p:spPr>
          <a:xfrm>
            <a:off x="10367033" y="5741193"/>
            <a:ext cx="1005532" cy="333375"/>
          </a:xfrm>
          <a:prstGeom prst="rect">
            <a:avLst/>
          </a:prstGeom>
          <a:noFill/>
        </p:spPr>
        <p:txBody>
          <a:bodyPr wrap="square" lIns="0" rIns="0" tIns="0" bIns="0"/>
          <a:lstStyle/>
          <a:p>
            <a:pPr algn="l"/>
            <a:r>
              <a:rPr sz="100" b="1">
                <a:solidFill>
                  <a:srgbClr val="FFFFFF"/>
                </a:solidFill>
                <a:latin typeface="Inter"/>
              </a:rPr>
              <a:t>Vector DB</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1133446" y="380999"/>
            <a:ext cx="3780288" cy="414337"/>
          </a:xfrm>
          <a:prstGeom prst="rect">
            <a:avLst/>
          </a:prstGeom>
          <a:noFill/>
        </p:spPr>
        <p:txBody>
          <a:bodyPr wrap="square" lIns="0" rIns="0" tIns="0" bIns="0"/>
          <a:lstStyle/>
          <a:p>
            <a:pPr algn="l"/>
            <a:r>
              <a:rPr sz="100" b="1">
                <a:solidFill>
                  <a:srgbClr val="FFFFFF"/>
                </a:solidFill>
                <a:latin typeface="Inter"/>
              </a:rPr>
              <a:t>10 tính năng AI - Phần 1</a:t>
            </a:r>
          </a:p>
        </p:txBody>
      </p:sp>
      <p:sp>
        <p:nvSpPr>
          <p:cNvPr id="4" name="TextBox 3"/>
          <p:cNvSpPr txBox="1"/>
          <p:nvPr/>
        </p:nvSpPr>
        <p:spPr>
          <a:xfrm>
            <a:off x="1133446" y="814387"/>
            <a:ext cx="3780288" cy="233362"/>
          </a:xfrm>
          <a:prstGeom prst="rect">
            <a:avLst/>
          </a:prstGeom>
          <a:noFill/>
        </p:spPr>
        <p:txBody>
          <a:bodyPr wrap="square" lIns="0" rIns="0" tIns="0" bIns="0"/>
          <a:lstStyle/>
          <a:p>
            <a:pPr algn="l"/>
            <a:r>
              <a:rPr sz="100" b="0">
                <a:solidFill>
                  <a:srgbClr val="FFFFFF"/>
                </a:solidFill>
                <a:latin typeface="Inter"/>
              </a:rPr>
              <a:t>5 tính năng trọng tâm cho sinh viên PTIT</a:t>
            </a:r>
          </a:p>
        </p:txBody>
      </p:sp>
      <p:sp>
        <p:nvSpPr>
          <p:cNvPr id="5" name="TextBox 4"/>
          <p:cNvSpPr txBox="1"/>
          <p:nvPr/>
        </p:nvSpPr>
        <p:spPr>
          <a:xfrm>
            <a:off x="9259928" y="609600"/>
            <a:ext cx="2455528" cy="209550"/>
          </a:xfrm>
          <a:prstGeom prst="rect">
            <a:avLst/>
          </a:prstGeom>
          <a:noFill/>
        </p:spPr>
        <p:txBody>
          <a:bodyPr wrap="square" lIns="0" rIns="0" tIns="0" bIns="0"/>
          <a:lstStyle/>
          <a:p>
            <a:pPr algn="l"/>
            <a:r>
              <a:rPr sz="100" b="0">
                <a:solidFill>
                  <a:srgbClr val="FFFFFF"/>
                </a:solidFill>
                <a:latin typeface="Inter"/>
              </a:rPr>
              <a:t>Ngày hội Đọc sách PTIT 2026</a:t>
            </a:r>
          </a:p>
        </p:txBody>
      </p:sp>
      <p:sp>
        <p:nvSpPr>
          <p:cNvPr id="6" name="TextBox 5"/>
          <p:cNvSpPr txBox="1"/>
          <p:nvPr/>
        </p:nvSpPr>
        <p:spPr>
          <a:xfrm>
            <a:off x="1285842" y="1609725"/>
            <a:ext cx="1047723" cy="466724"/>
          </a:xfrm>
          <a:prstGeom prst="rect">
            <a:avLst/>
          </a:prstGeom>
          <a:noFill/>
        </p:spPr>
        <p:txBody>
          <a:bodyPr wrap="square" lIns="0" rIns="0" tIns="0" bIns="0"/>
          <a:lstStyle/>
          <a:p>
            <a:pPr algn="l"/>
            <a:r>
              <a:rPr sz="100" b="1">
                <a:solidFill>
                  <a:srgbClr val="FFFFFF"/>
                </a:solidFill>
                <a:latin typeface="Inter"/>
              </a:rPr>
              <a:t>Hỏi đáp thông minh</a:t>
            </a:r>
          </a:p>
        </p:txBody>
      </p:sp>
      <p:sp>
        <p:nvSpPr>
          <p:cNvPr id="7" name="TextBox 6"/>
          <p:cNvSpPr txBox="1"/>
          <p:nvPr/>
        </p:nvSpPr>
        <p:spPr>
          <a:xfrm>
            <a:off x="714357" y="2266950"/>
            <a:ext cx="1619209" cy="2300287"/>
          </a:xfrm>
          <a:prstGeom prst="rect">
            <a:avLst/>
          </a:prstGeom>
          <a:noFill/>
        </p:spPr>
        <p:txBody>
          <a:bodyPr wrap="square" lIns="0" rIns="0" tIns="0" bIns="0"/>
          <a:lstStyle/>
          <a:p>
            <a:pPr algn="l"/>
            <a:r>
              <a:rPr sz="100" b="0">
                <a:solidFill>
                  <a:srgbClr val="FFFFFF"/>
                </a:solidFill>
                <a:latin typeface="Inter"/>
              </a:rPr>
              <a:t>Trả lời chính xác theo ngữ cảnh, có trích dẫn chương/trang cụ thể từ nội dung sách.</a:t>
            </a:r>
          </a:p>
        </p:txBody>
      </p:sp>
      <p:sp>
        <p:nvSpPr>
          <p:cNvPr id="8" name="TextBox 7"/>
          <p:cNvSpPr txBox="1"/>
          <p:nvPr/>
        </p:nvSpPr>
        <p:spPr>
          <a:xfrm>
            <a:off x="714357" y="4757737"/>
            <a:ext cx="1434890" cy="300037"/>
          </a:xfrm>
          <a:prstGeom prst="rect">
            <a:avLst/>
          </a:prstGeom>
          <a:noFill/>
        </p:spPr>
        <p:txBody>
          <a:bodyPr wrap="square" lIns="0" rIns="0" tIns="0" bIns="0"/>
          <a:lstStyle/>
          <a:p>
            <a:pPr algn="l"/>
            <a:r>
              <a:rPr sz="100" b="1">
                <a:solidFill>
                  <a:srgbClr val="FFFFFF"/>
                </a:solidFill>
                <a:latin typeface="Inter"/>
              </a:rPr>
              <a:t>Trích dẫn chính xác</a:t>
            </a:r>
          </a:p>
        </p:txBody>
      </p:sp>
      <p:sp>
        <p:nvSpPr>
          <p:cNvPr id="9" name="TextBox 8"/>
          <p:cNvSpPr txBox="1"/>
          <p:nvPr/>
        </p:nvSpPr>
        <p:spPr>
          <a:xfrm>
            <a:off x="3571785" y="1609725"/>
            <a:ext cx="1047723" cy="466724"/>
          </a:xfrm>
          <a:prstGeom prst="rect">
            <a:avLst/>
          </a:prstGeom>
          <a:noFill/>
        </p:spPr>
        <p:txBody>
          <a:bodyPr wrap="square" lIns="0" rIns="0" tIns="0" bIns="0"/>
          <a:lstStyle/>
          <a:p>
            <a:pPr algn="l"/>
            <a:r>
              <a:rPr sz="100" b="1">
                <a:solidFill>
                  <a:srgbClr val="FFFFFF"/>
                </a:solidFill>
                <a:latin typeface="Inter"/>
              </a:rPr>
              <a:t>Chatbot thư viện</a:t>
            </a:r>
          </a:p>
        </p:txBody>
      </p:sp>
      <p:sp>
        <p:nvSpPr>
          <p:cNvPr id="10" name="TextBox 9"/>
          <p:cNvSpPr txBox="1"/>
          <p:nvPr/>
        </p:nvSpPr>
        <p:spPr>
          <a:xfrm>
            <a:off x="3000299" y="2266950"/>
            <a:ext cx="1619209" cy="2300287"/>
          </a:xfrm>
          <a:prstGeom prst="rect">
            <a:avLst/>
          </a:prstGeom>
          <a:noFill/>
        </p:spPr>
        <p:txBody>
          <a:bodyPr wrap="square" lIns="0" rIns="0" tIns="0" bIns="0"/>
          <a:lstStyle/>
          <a:p>
            <a:pPr algn="l"/>
            <a:r>
              <a:rPr sz="100" b="0">
                <a:solidFill>
                  <a:srgbClr val="FFFFFF"/>
                </a:solidFill>
                <a:latin typeface="Inter"/>
              </a:rPr>
              <a:t>Hội thoại đa sách, hỗ trợ tra cứu và tìm kiếm thông tin từ nhiều nguồn tài liệu.</a:t>
            </a:r>
          </a:p>
        </p:txBody>
      </p:sp>
      <p:sp>
        <p:nvSpPr>
          <p:cNvPr id="11" name="TextBox 10"/>
          <p:cNvSpPr txBox="1"/>
          <p:nvPr/>
        </p:nvSpPr>
        <p:spPr>
          <a:xfrm>
            <a:off x="3000299" y="4757737"/>
            <a:ext cx="749107" cy="300037"/>
          </a:xfrm>
          <a:prstGeom prst="rect">
            <a:avLst/>
          </a:prstGeom>
          <a:noFill/>
        </p:spPr>
        <p:txBody>
          <a:bodyPr wrap="square" lIns="0" rIns="0" tIns="0" bIns="0"/>
          <a:lstStyle/>
          <a:p>
            <a:pPr algn="l"/>
            <a:r>
              <a:rPr sz="100" b="1">
                <a:solidFill>
                  <a:srgbClr val="FFFFFF"/>
                </a:solidFill>
                <a:latin typeface="Inter"/>
              </a:rPr>
              <a:t>Đa sách</a:t>
            </a:r>
          </a:p>
        </p:txBody>
      </p:sp>
      <p:sp>
        <p:nvSpPr>
          <p:cNvPr id="12" name="TextBox 11"/>
          <p:cNvSpPr txBox="1"/>
          <p:nvPr/>
        </p:nvSpPr>
        <p:spPr>
          <a:xfrm>
            <a:off x="5857728" y="1609725"/>
            <a:ext cx="1047723" cy="466724"/>
          </a:xfrm>
          <a:prstGeom prst="rect">
            <a:avLst/>
          </a:prstGeom>
          <a:noFill/>
        </p:spPr>
        <p:txBody>
          <a:bodyPr wrap="square" lIns="0" rIns="0" tIns="0" bIns="0"/>
          <a:lstStyle/>
          <a:p>
            <a:pPr algn="l"/>
            <a:r>
              <a:rPr sz="100" b="1">
                <a:solidFill>
                  <a:srgbClr val="FFFFFF"/>
                </a:solidFill>
                <a:latin typeface="Inter"/>
              </a:rPr>
              <a:t>Tóm tắt nội dung</a:t>
            </a:r>
          </a:p>
        </p:txBody>
      </p:sp>
      <p:sp>
        <p:nvSpPr>
          <p:cNvPr id="13" name="TextBox 12"/>
          <p:cNvSpPr txBox="1"/>
          <p:nvPr/>
        </p:nvSpPr>
        <p:spPr>
          <a:xfrm>
            <a:off x="5286242" y="2266950"/>
            <a:ext cx="1619209" cy="2300287"/>
          </a:xfrm>
          <a:prstGeom prst="rect">
            <a:avLst/>
          </a:prstGeom>
          <a:noFill/>
        </p:spPr>
        <p:txBody>
          <a:bodyPr wrap="square" lIns="0" rIns="0" tIns="0" bIns="0"/>
          <a:lstStyle/>
          <a:p>
            <a:pPr algn="l"/>
            <a:r>
              <a:rPr sz="100" b="0">
                <a:solidFill>
                  <a:srgbClr val="FFFFFF"/>
                </a:solidFill>
                <a:latin typeface="Inter"/>
              </a:rPr>
              <a:t>Tóm tắt ~200 từ nội dung chính, giúp nắm bắt kiến thức nhanh chóng.</a:t>
            </a:r>
          </a:p>
        </p:txBody>
      </p:sp>
      <p:sp>
        <p:nvSpPr>
          <p:cNvPr id="14" name="TextBox 13"/>
          <p:cNvSpPr txBox="1"/>
          <p:nvPr/>
        </p:nvSpPr>
        <p:spPr>
          <a:xfrm>
            <a:off x="5286242" y="4757737"/>
            <a:ext cx="742261" cy="300037"/>
          </a:xfrm>
          <a:prstGeom prst="rect">
            <a:avLst/>
          </a:prstGeom>
          <a:noFill/>
        </p:spPr>
        <p:txBody>
          <a:bodyPr wrap="square" lIns="0" rIns="0" tIns="0" bIns="0"/>
          <a:lstStyle/>
          <a:p>
            <a:pPr algn="l"/>
            <a:r>
              <a:rPr sz="100" b="1">
                <a:solidFill>
                  <a:srgbClr val="FFFFFF"/>
                </a:solidFill>
                <a:latin typeface="Inter"/>
              </a:rPr>
              <a:t>~200 từ</a:t>
            </a:r>
          </a:p>
        </p:txBody>
      </p:sp>
      <p:sp>
        <p:nvSpPr>
          <p:cNvPr id="15" name="TextBox 14"/>
          <p:cNvSpPr txBox="1"/>
          <p:nvPr/>
        </p:nvSpPr>
        <p:spPr>
          <a:xfrm>
            <a:off x="8143671" y="1609725"/>
            <a:ext cx="1047723" cy="466724"/>
          </a:xfrm>
          <a:prstGeom prst="rect">
            <a:avLst/>
          </a:prstGeom>
          <a:noFill/>
        </p:spPr>
        <p:txBody>
          <a:bodyPr wrap="square" lIns="0" rIns="0" tIns="0" bIns="0"/>
          <a:lstStyle/>
          <a:p>
            <a:pPr algn="l"/>
            <a:r>
              <a:rPr sz="100" b="1">
                <a:solidFill>
                  <a:srgbClr val="FFFFFF"/>
                </a:solidFill>
                <a:latin typeface="Inter"/>
              </a:rPr>
              <a:t>Quiz trắc nghiệm</a:t>
            </a:r>
          </a:p>
        </p:txBody>
      </p:sp>
      <p:sp>
        <p:nvSpPr>
          <p:cNvPr id="16" name="TextBox 15"/>
          <p:cNvSpPr txBox="1"/>
          <p:nvPr/>
        </p:nvSpPr>
        <p:spPr>
          <a:xfrm>
            <a:off x="7572185" y="2266950"/>
            <a:ext cx="1619209" cy="2300287"/>
          </a:xfrm>
          <a:prstGeom prst="rect">
            <a:avLst/>
          </a:prstGeom>
          <a:noFill/>
        </p:spPr>
        <p:txBody>
          <a:bodyPr wrap="square" lIns="0" rIns="0" tIns="0" bIns="0"/>
          <a:lstStyle/>
          <a:p>
            <a:pPr algn="l"/>
            <a:r>
              <a:rPr sz="100" b="0">
                <a:solidFill>
                  <a:srgbClr val="FFFFFF"/>
                </a:solidFill>
                <a:latin typeface="Inter"/>
              </a:rPr>
              <a:t>Tạo câu hỏi trắc nghiệm tự động từ nội dung trọng tâm để ôn tập.</a:t>
            </a:r>
          </a:p>
        </p:txBody>
      </p:sp>
      <p:sp>
        <p:nvSpPr>
          <p:cNvPr id="17" name="TextBox 16"/>
          <p:cNvSpPr txBox="1"/>
          <p:nvPr/>
        </p:nvSpPr>
        <p:spPr>
          <a:xfrm>
            <a:off x="7572185" y="4757737"/>
            <a:ext cx="765552" cy="300037"/>
          </a:xfrm>
          <a:prstGeom prst="rect">
            <a:avLst/>
          </a:prstGeom>
          <a:noFill/>
        </p:spPr>
        <p:txBody>
          <a:bodyPr wrap="square" lIns="0" rIns="0" tIns="0" bIns="0"/>
          <a:lstStyle/>
          <a:p>
            <a:pPr algn="l"/>
            <a:r>
              <a:rPr sz="100" b="1">
                <a:solidFill>
                  <a:srgbClr val="FFFFFF"/>
                </a:solidFill>
                <a:latin typeface="Inter"/>
              </a:rPr>
              <a:t>Tự động</a:t>
            </a:r>
          </a:p>
        </p:txBody>
      </p:sp>
      <p:sp>
        <p:nvSpPr>
          <p:cNvPr id="18" name="TextBox 17"/>
          <p:cNvSpPr txBox="1"/>
          <p:nvPr/>
        </p:nvSpPr>
        <p:spPr>
          <a:xfrm>
            <a:off x="10429614" y="1609725"/>
            <a:ext cx="1047723" cy="466724"/>
          </a:xfrm>
          <a:prstGeom prst="rect">
            <a:avLst/>
          </a:prstGeom>
          <a:noFill/>
        </p:spPr>
        <p:txBody>
          <a:bodyPr wrap="square" lIns="0" rIns="0" tIns="0" bIns="0"/>
          <a:lstStyle/>
          <a:p>
            <a:pPr algn="l"/>
            <a:r>
              <a:rPr sz="100" b="1">
                <a:solidFill>
                  <a:srgbClr val="FFFFFF"/>
                </a:solidFill>
                <a:latin typeface="Inter"/>
              </a:rPr>
              <a:t>Flashcard ôn tập</a:t>
            </a:r>
          </a:p>
        </p:txBody>
      </p:sp>
      <p:sp>
        <p:nvSpPr>
          <p:cNvPr id="19" name="TextBox 18"/>
          <p:cNvSpPr txBox="1"/>
          <p:nvPr/>
        </p:nvSpPr>
        <p:spPr>
          <a:xfrm>
            <a:off x="9858128" y="2266950"/>
            <a:ext cx="1619209" cy="2300287"/>
          </a:xfrm>
          <a:prstGeom prst="rect">
            <a:avLst/>
          </a:prstGeom>
          <a:noFill/>
        </p:spPr>
        <p:txBody>
          <a:bodyPr wrap="square" lIns="0" rIns="0" tIns="0" bIns="0"/>
          <a:lstStyle/>
          <a:p>
            <a:pPr algn="l"/>
            <a:r>
              <a:rPr sz="100" b="0">
                <a:solidFill>
                  <a:srgbClr val="FFFFFF"/>
                </a:solidFill>
                <a:latin typeface="Inter"/>
              </a:rPr>
              <a:t>Tạo thẻ ghi nhớ theo phương pháp Active Recall &amp; Spaced Repetition.</a:t>
            </a:r>
          </a:p>
        </p:txBody>
      </p:sp>
      <p:sp>
        <p:nvSpPr>
          <p:cNvPr id="20" name="TextBox 19"/>
          <p:cNvSpPr txBox="1"/>
          <p:nvPr/>
        </p:nvSpPr>
        <p:spPr>
          <a:xfrm>
            <a:off x="9858128" y="4757737"/>
            <a:ext cx="725593" cy="300037"/>
          </a:xfrm>
          <a:prstGeom prst="rect">
            <a:avLst/>
          </a:prstGeom>
          <a:noFill/>
        </p:spPr>
        <p:txBody>
          <a:bodyPr wrap="square" lIns="0" rIns="0" tIns="0" bIns="0"/>
          <a:lstStyle/>
          <a:p>
            <a:pPr algn="l"/>
            <a:r>
              <a:rPr sz="100" b="1">
                <a:solidFill>
                  <a:srgbClr val="FFFFFF"/>
                </a:solidFill>
                <a:latin typeface="Inter"/>
              </a:rPr>
              <a:t>Ghi nhớ</a:t>
            </a:r>
          </a:p>
        </p:txBody>
      </p:sp>
      <p:sp>
        <p:nvSpPr>
          <p:cNvPr id="21" name="TextBox 20"/>
          <p:cNvSpPr txBox="1"/>
          <p:nvPr/>
        </p:nvSpPr>
        <p:spPr>
          <a:xfrm>
            <a:off x="1285842" y="5888831"/>
            <a:ext cx="1077711" cy="161924"/>
          </a:xfrm>
          <a:prstGeom prst="rect">
            <a:avLst/>
          </a:prstGeom>
          <a:noFill/>
        </p:spPr>
        <p:txBody>
          <a:bodyPr wrap="square" lIns="0" rIns="0" tIns="0" bIns="0"/>
          <a:lstStyle/>
          <a:p>
            <a:pPr algn="l"/>
            <a:r>
              <a:rPr sz="100" b="0">
                <a:solidFill>
                  <a:srgbClr val="FFFFFF"/>
                </a:solidFill>
                <a:latin typeface="Inter"/>
              </a:rPr>
              <a:t>Hiệu quả học tập</a:t>
            </a:r>
          </a:p>
        </p:txBody>
      </p:sp>
      <p:sp>
        <p:nvSpPr>
          <p:cNvPr id="22" name="TextBox 21"/>
          <p:cNvSpPr txBox="1"/>
          <p:nvPr/>
        </p:nvSpPr>
        <p:spPr>
          <a:xfrm>
            <a:off x="1285842" y="6069806"/>
            <a:ext cx="1077711" cy="233362"/>
          </a:xfrm>
          <a:prstGeom prst="rect">
            <a:avLst/>
          </a:prstGeom>
          <a:noFill/>
        </p:spPr>
        <p:txBody>
          <a:bodyPr wrap="square" lIns="0" rIns="0" tIns="0" bIns="0"/>
          <a:lstStyle/>
          <a:p>
            <a:pPr algn="l"/>
            <a:r>
              <a:rPr sz="100" b="1">
                <a:solidFill>
                  <a:srgbClr val="FFFFFF"/>
                </a:solidFill>
                <a:latin typeface="Inter"/>
              </a:rPr>
              <a:t>+85%</a:t>
            </a:r>
          </a:p>
        </p:txBody>
      </p:sp>
      <p:sp>
        <p:nvSpPr>
          <p:cNvPr id="23" name="TextBox 22"/>
          <p:cNvSpPr txBox="1"/>
          <p:nvPr/>
        </p:nvSpPr>
        <p:spPr>
          <a:xfrm>
            <a:off x="5095747" y="5888831"/>
            <a:ext cx="1167527" cy="161924"/>
          </a:xfrm>
          <a:prstGeom prst="rect">
            <a:avLst/>
          </a:prstGeom>
          <a:noFill/>
        </p:spPr>
        <p:txBody>
          <a:bodyPr wrap="square" lIns="0" rIns="0" tIns="0" bIns="0"/>
          <a:lstStyle/>
          <a:p>
            <a:pPr algn="l"/>
            <a:r>
              <a:rPr sz="100" b="0">
                <a:solidFill>
                  <a:srgbClr val="FFFFFF"/>
                </a:solidFill>
                <a:latin typeface="Inter"/>
              </a:rPr>
              <a:t>Thời gian tiết kiệm</a:t>
            </a:r>
          </a:p>
        </p:txBody>
      </p:sp>
      <p:sp>
        <p:nvSpPr>
          <p:cNvPr id="24" name="TextBox 23"/>
          <p:cNvSpPr txBox="1"/>
          <p:nvPr/>
        </p:nvSpPr>
        <p:spPr>
          <a:xfrm>
            <a:off x="5095747" y="6069806"/>
            <a:ext cx="1167527" cy="233362"/>
          </a:xfrm>
          <a:prstGeom prst="rect">
            <a:avLst/>
          </a:prstGeom>
          <a:noFill/>
        </p:spPr>
        <p:txBody>
          <a:bodyPr wrap="square" lIns="0" rIns="0" tIns="0" bIns="0"/>
          <a:lstStyle/>
          <a:p>
            <a:pPr algn="l"/>
            <a:r>
              <a:rPr sz="100" b="1">
                <a:solidFill>
                  <a:srgbClr val="FFFFFF"/>
                </a:solidFill>
                <a:latin typeface="Inter"/>
              </a:rPr>
              <a:t>-60%</a:t>
            </a:r>
          </a:p>
        </p:txBody>
      </p:sp>
      <p:sp>
        <p:nvSpPr>
          <p:cNvPr id="25" name="TextBox 24"/>
          <p:cNvSpPr txBox="1"/>
          <p:nvPr/>
        </p:nvSpPr>
        <p:spPr>
          <a:xfrm>
            <a:off x="8905652" y="5888831"/>
            <a:ext cx="1280336" cy="161924"/>
          </a:xfrm>
          <a:prstGeom prst="rect">
            <a:avLst/>
          </a:prstGeom>
          <a:noFill/>
        </p:spPr>
        <p:txBody>
          <a:bodyPr wrap="square" lIns="0" rIns="0" tIns="0" bIns="0"/>
          <a:lstStyle/>
          <a:p>
            <a:pPr algn="l"/>
            <a:r>
              <a:rPr sz="100" b="0">
                <a:solidFill>
                  <a:srgbClr val="FFFFFF"/>
                </a:solidFill>
                <a:latin typeface="Inter"/>
              </a:rPr>
              <a:t>Người dùng hài lòng</a:t>
            </a:r>
          </a:p>
        </p:txBody>
      </p:sp>
      <p:sp>
        <p:nvSpPr>
          <p:cNvPr id="26" name="TextBox 25"/>
          <p:cNvSpPr txBox="1"/>
          <p:nvPr/>
        </p:nvSpPr>
        <p:spPr>
          <a:xfrm>
            <a:off x="8905652" y="6069806"/>
            <a:ext cx="1280336" cy="233362"/>
          </a:xfrm>
          <a:prstGeom prst="rect">
            <a:avLst/>
          </a:prstGeom>
          <a:noFill/>
        </p:spPr>
        <p:txBody>
          <a:bodyPr wrap="square" lIns="0" rIns="0" tIns="0" bIns="0"/>
          <a:lstStyle/>
          <a:p>
            <a:pPr algn="l"/>
            <a:r>
              <a:rPr sz="100" b="1">
                <a:solidFill>
                  <a:srgbClr val="FFFFFF"/>
                </a:solidFill>
                <a:latin typeface="Inter"/>
              </a:rPr>
              <a:t>95%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1047723" y="380999"/>
            <a:ext cx="4619658" cy="366712"/>
          </a:xfrm>
          <a:prstGeom prst="rect">
            <a:avLst/>
          </a:prstGeom>
          <a:noFill/>
        </p:spPr>
        <p:txBody>
          <a:bodyPr wrap="square" lIns="0" rIns="0" tIns="0" bIns="0"/>
          <a:lstStyle/>
          <a:p>
            <a:pPr algn="l"/>
            <a:r>
              <a:rPr sz="100" b="1">
                <a:solidFill>
                  <a:srgbClr val="FFFFFF"/>
                </a:solidFill>
                <a:latin typeface="Inter"/>
              </a:rPr>
              <a:t>10 Tính năng AI - Phần 2</a:t>
            </a:r>
          </a:p>
        </p:txBody>
      </p:sp>
      <p:sp>
        <p:nvSpPr>
          <p:cNvPr id="4" name="TextBox 3"/>
          <p:cNvSpPr txBox="1"/>
          <p:nvPr/>
        </p:nvSpPr>
        <p:spPr>
          <a:xfrm>
            <a:off x="1047723" y="766762"/>
            <a:ext cx="4619658" cy="209550"/>
          </a:xfrm>
          <a:prstGeom prst="rect">
            <a:avLst/>
          </a:prstGeom>
          <a:noFill/>
        </p:spPr>
        <p:txBody>
          <a:bodyPr wrap="square" lIns="0" rIns="0" tIns="0" bIns="0"/>
          <a:lstStyle/>
          <a:p>
            <a:pPr algn="l"/>
            <a:r>
              <a:rPr sz="100" b="0">
                <a:solidFill>
                  <a:srgbClr val="FFFFFF"/>
                </a:solidFill>
                <a:latin typeface="Inter"/>
              </a:rPr>
              <a:t>5 tính năng nâng cao cho trải nghiệm học tập thông minh</a:t>
            </a:r>
          </a:p>
        </p:txBody>
      </p:sp>
      <p:sp>
        <p:nvSpPr>
          <p:cNvPr id="5" name="TextBox 4"/>
          <p:cNvSpPr txBox="1"/>
          <p:nvPr/>
        </p:nvSpPr>
        <p:spPr>
          <a:xfrm>
            <a:off x="9546639" y="585787"/>
            <a:ext cx="2168818" cy="185737"/>
          </a:xfrm>
          <a:prstGeom prst="rect">
            <a:avLst/>
          </a:prstGeom>
          <a:noFill/>
        </p:spPr>
        <p:txBody>
          <a:bodyPr wrap="square" lIns="0" rIns="0" tIns="0" bIns="0"/>
          <a:lstStyle/>
          <a:p>
            <a:pPr algn="l"/>
            <a:r>
              <a:rPr sz="100" b="0">
                <a:solidFill>
                  <a:srgbClr val="FFFFFF"/>
                </a:solidFill>
                <a:latin typeface="Inter"/>
              </a:rPr>
              <a:t>Ngày hội Đọc sách PTIT 2026</a:t>
            </a:r>
          </a:p>
        </p:txBody>
      </p:sp>
      <p:sp>
        <p:nvSpPr>
          <p:cNvPr id="6" name="TextBox 5"/>
          <p:cNvSpPr txBox="1"/>
          <p:nvPr/>
        </p:nvSpPr>
        <p:spPr>
          <a:xfrm>
            <a:off x="1257268" y="1520204"/>
            <a:ext cx="1076298" cy="388590"/>
          </a:xfrm>
          <a:prstGeom prst="rect">
            <a:avLst/>
          </a:prstGeom>
          <a:noFill/>
        </p:spPr>
        <p:txBody>
          <a:bodyPr wrap="square" lIns="0" rIns="0" tIns="0" bIns="0"/>
          <a:lstStyle/>
          <a:p>
            <a:pPr algn="l"/>
            <a:r>
              <a:rPr sz="100" b="1">
                <a:solidFill>
                  <a:srgbClr val="FFFFFF"/>
                </a:solidFill>
                <a:latin typeface="Inter"/>
              </a:rPr>
              <a:t>Minh họa tranh</a:t>
            </a:r>
          </a:p>
        </p:txBody>
      </p:sp>
      <p:sp>
        <p:nvSpPr>
          <p:cNvPr id="7" name="TextBox 6"/>
          <p:cNvSpPr txBox="1"/>
          <p:nvPr/>
        </p:nvSpPr>
        <p:spPr>
          <a:xfrm>
            <a:off x="714357" y="2071687"/>
            <a:ext cx="1619209" cy="853380"/>
          </a:xfrm>
          <a:prstGeom prst="rect">
            <a:avLst/>
          </a:prstGeom>
          <a:noFill/>
        </p:spPr>
        <p:txBody>
          <a:bodyPr wrap="square" lIns="0" rIns="0" tIns="0" bIns="0"/>
          <a:lstStyle/>
          <a:p>
            <a:pPr algn="l"/>
            <a:r>
              <a:rPr sz="100" b="0">
                <a:solidFill>
                  <a:srgbClr val="FFFFFF"/>
                </a:solidFill>
                <a:latin typeface="Inter"/>
              </a:rPr>
              <a:t>Tạo tranh minh họa phong cách watercolor giúp hình dung khái niệm nhanh chóng.</a:t>
            </a:r>
          </a:p>
        </p:txBody>
      </p:sp>
      <p:sp>
        <p:nvSpPr>
          <p:cNvPr id="8" name="TextBox 7"/>
          <p:cNvSpPr txBox="1"/>
          <p:nvPr/>
        </p:nvSpPr>
        <p:spPr>
          <a:xfrm>
            <a:off x="866753" y="4662487"/>
            <a:ext cx="610328" cy="147637"/>
          </a:xfrm>
          <a:prstGeom prst="rect">
            <a:avLst/>
          </a:prstGeom>
          <a:noFill/>
        </p:spPr>
        <p:txBody>
          <a:bodyPr wrap="square" lIns="0" rIns="0" tIns="0" bIns="0"/>
          <a:lstStyle/>
          <a:p>
            <a:pPr algn="l"/>
            <a:r>
              <a:rPr sz="100" b="0">
                <a:solidFill>
                  <a:srgbClr val="FFFFFF"/>
                </a:solidFill>
                <a:latin typeface="Inter"/>
              </a:rPr>
              <a:t>Hoạt động</a:t>
            </a:r>
          </a:p>
        </p:txBody>
      </p:sp>
      <p:sp>
        <p:nvSpPr>
          <p:cNvPr id="9" name="TextBox 8"/>
          <p:cNvSpPr txBox="1"/>
          <p:nvPr/>
        </p:nvSpPr>
        <p:spPr>
          <a:xfrm>
            <a:off x="714357" y="4962525"/>
            <a:ext cx="608096" cy="252412"/>
          </a:xfrm>
          <a:prstGeom prst="rect">
            <a:avLst/>
          </a:prstGeom>
          <a:noFill/>
        </p:spPr>
        <p:txBody>
          <a:bodyPr wrap="square" lIns="0" rIns="0" tIns="0" bIns="0"/>
          <a:lstStyle/>
          <a:p>
            <a:pPr algn="l"/>
            <a:r>
              <a:rPr sz="100" b="1">
                <a:solidFill>
                  <a:srgbClr val="FFFFFF"/>
                </a:solidFill>
                <a:latin typeface="Inter"/>
              </a:rPr>
              <a:t>Visual</a:t>
            </a:r>
          </a:p>
        </p:txBody>
      </p:sp>
      <p:sp>
        <p:nvSpPr>
          <p:cNvPr id="10" name="TextBox 9"/>
          <p:cNvSpPr txBox="1"/>
          <p:nvPr/>
        </p:nvSpPr>
        <p:spPr>
          <a:xfrm>
            <a:off x="3543211" y="1520204"/>
            <a:ext cx="1076298" cy="388590"/>
          </a:xfrm>
          <a:prstGeom prst="rect">
            <a:avLst/>
          </a:prstGeom>
          <a:noFill/>
        </p:spPr>
        <p:txBody>
          <a:bodyPr wrap="square" lIns="0" rIns="0" tIns="0" bIns="0"/>
          <a:lstStyle/>
          <a:p>
            <a:pPr algn="l"/>
            <a:r>
              <a:rPr sz="100" b="1">
                <a:solidFill>
                  <a:srgbClr val="FFFFFF"/>
                </a:solidFill>
                <a:latin typeface="Inter"/>
              </a:rPr>
              <a:t>Nhập liệu giọng nói</a:t>
            </a:r>
          </a:p>
        </p:txBody>
      </p:sp>
      <p:sp>
        <p:nvSpPr>
          <p:cNvPr id="11" name="TextBox 10"/>
          <p:cNvSpPr txBox="1"/>
          <p:nvPr/>
        </p:nvSpPr>
        <p:spPr>
          <a:xfrm>
            <a:off x="3000299" y="2071687"/>
            <a:ext cx="1619209" cy="640035"/>
          </a:xfrm>
          <a:prstGeom prst="rect">
            <a:avLst/>
          </a:prstGeom>
          <a:noFill/>
        </p:spPr>
        <p:txBody>
          <a:bodyPr wrap="square" lIns="0" rIns="0" tIns="0" bIns="0"/>
          <a:lstStyle/>
          <a:p>
            <a:pPr algn="l"/>
            <a:r>
              <a:rPr sz="100" b="0">
                <a:solidFill>
                  <a:srgbClr val="FFFFFF"/>
                </a:solidFill>
                <a:latin typeface="Inter"/>
              </a:rPr>
              <a:t>Đọc nội dung/đặt câu hỏi rảnh tay, nhận diện chính xác giọng nói.</a:t>
            </a:r>
          </a:p>
        </p:txBody>
      </p:sp>
      <p:sp>
        <p:nvSpPr>
          <p:cNvPr id="12" name="TextBox 11"/>
          <p:cNvSpPr txBox="1"/>
          <p:nvPr/>
        </p:nvSpPr>
        <p:spPr>
          <a:xfrm>
            <a:off x="3152696" y="4662487"/>
            <a:ext cx="540976" cy="147637"/>
          </a:xfrm>
          <a:prstGeom prst="rect">
            <a:avLst/>
          </a:prstGeom>
          <a:noFill/>
        </p:spPr>
        <p:txBody>
          <a:bodyPr wrap="square" lIns="0" rIns="0" tIns="0" bIns="0"/>
          <a:lstStyle/>
          <a:p>
            <a:pPr algn="l"/>
            <a:r>
              <a:rPr sz="100" b="0">
                <a:solidFill>
                  <a:srgbClr val="FFFFFF"/>
                </a:solidFill>
                <a:latin typeface="Inter"/>
              </a:rPr>
              <a:t>Sẵn sàng</a:t>
            </a:r>
          </a:p>
        </p:txBody>
      </p:sp>
      <p:sp>
        <p:nvSpPr>
          <p:cNvPr id="13" name="TextBox 12"/>
          <p:cNvSpPr txBox="1"/>
          <p:nvPr/>
        </p:nvSpPr>
        <p:spPr>
          <a:xfrm>
            <a:off x="3000299" y="4962525"/>
            <a:ext cx="889002" cy="252412"/>
          </a:xfrm>
          <a:prstGeom prst="rect">
            <a:avLst/>
          </a:prstGeom>
          <a:noFill/>
        </p:spPr>
        <p:txBody>
          <a:bodyPr wrap="square" lIns="0" rIns="0" tIns="0" bIns="0"/>
          <a:lstStyle/>
          <a:p>
            <a:pPr algn="l"/>
            <a:r>
              <a:rPr sz="100" b="1">
                <a:solidFill>
                  <a:srgbClr val="FFFFFF"/>
                </a:solidFill>
                <a:latin typeface="Inter"/>
              </a:rPr>
              <a:t>Voice Input</a:t>
            </a:r>
          </a:p>
        </p:txBody>
      </p:sp>
      <p:sp>
        <p:nvSpPr>
          <p:cNvPr id="14" name="TextBox 13"/>
          <p:cNvSpPr txBox="1"/>
          <p:nvPr/>
        </p:nvSpPr>
        <p:spPr>
          <a:xfrm>
            <a:off x="5829154" y="1520204"/>
            <a:ext cx="1076298" cy="388590"/>
          </a:xfrm>
          <a:prstGeom prst="rect">
            <a:avLst/>
          </a:prstGeom>
          <a:noFill/>
        </p:spPr>
        <p:txBody>
          <a:bodyPr wrap="square" lIns="0" rIns="0" tIns="0" bIns="0"/>
          <a:lstStyle/>
          <a:p>
            <a:pPr algn="l"/>
            <a:r>
              <a:rPr sz="100" b="1">
                <a:solidFill>
                  <a:srgbClr val="FFFFFF"/>
                </a:solidFill>
                <a:latin typeface="Inter"/>
              </a:rPr>
              <a:t>Trò chuyện giọng nói</a:t>
            </a:r>
          </a:p>
        </p:txBody>
      </p:sp>
      <p:sp>
        <p:nvSpPr>
          <p:cNvPr id="15" name="TextBox 14"/>
          <p:cNvSpPr txBox="1"/>
          <p:nvPr/>
        </p:nvSpPr>
        <p:spPr>
          <a:xfrm>
            <a:off x="5286242" y="2071687"/>
            <a:ext cx="1619209" cy="640035"/>
          </a:xfrm>
          <a:prstGeom prst="rect">
            <a:avLst/>
          </a:prstGeom>
          <a:noFill/>
        </p:spPr>
        <p:txBody>
          <a:bodyPr wrap="square" lIns="0" rIns="0" tIns="0" bIns="0"/>
          <a:lstStyle/>
          <a:p>
            <a:pPr algn="l"/>
            <a:r>
              <a:rPr sz="100" b="0">
                <a:solidFill>
                  <a:srgbClr val="FFFFFF"/>
                </a:solidFill>
                <a:latin typeface="Inter"/>
              </a:rPr>
              <a:t>Phản hồi nhanh, cảm giác như trợ lý học tập thật sự.</a:t>
            </a:r>
          </a:p>
        </p:txBody>
      </p:sp>
      <p:sp>
        <p:nvSpPr>
          <p:cNvPr id="16" name="TextBox 15"/>
          <p:cNvSpPr txBox="1"/>
          <p:nvPr/>
        </p:nvSpPr>
        <p:spPr>
          <a:xfrm>
            <a:off x="5438639" y="4662487"/>
            <a:ext cx="558910" cy="147637"/>
          </a:xfrm>
          <a:prstGeom prst="rect">
            <a:avLst/>
          </a:prstGeom>
          <a:noFill/>
        </p:spPr>
        <p:txBody>
          <a:bodyPr wrap="square" lIns="0" rIns="0" tIns="0" bIns="0"/>
          <a:lstStyle/>
          <a:p>
            <a:pPr algn="l"/>
            <a:r>
              <a:rPr sz="100" b="0">
                <a:solidFill>
                  <a:srgbClr val="FFFFFF"/>
                </a:solidFill>
                <a:latin typeface="Inter"/>
              </a:rPr>
              <a:t>Real-time</a:t>
            </a:r>
          </a:p>
        </p:txBody>
      </p:sp>
      <p:sp>
        <p:nvSpPr>
          <p:cNvPr id="17" name="TextBox 16"/>
          <p:cNvSpPr txBox="1"/>
          <p:nvPr/>
        </p:nvSpPr>
        <p:spPr>
          <a:xfrm>
            <a:off x="5286242" y="4962525"/>
            <a:ext cx="670528" cy="252412"/>
          </a:xfrm>
          <a:prstGeom prst="rect">
            <a:avLst/>
          </a:prstGeom>
          <a:noFill/>
        </p:spPr>
        <p:txBody>
          <a:bodyPr wrap="square" lIns="0" rIns="0" tIns="0" bIns="0"/>
          <a:lstStyle/>
          <a:p>
            <a:pPr algn="l"/>
            <a:r>
              <a:rPr sz="100" b="1">
                <a:solidFill>
                  <a:srgbClr val="FFFFFF"/>
                </a:solidFill>
                <a:latin typeface="Inter"/>
              </a:rPr>
              <a:t>AI Chat</a:t>
            </a:r>
          </a:p>
        </p:txBody>
      </p:sp>
      <p:sp>
        <p:nvSpPr>
          <p:cNvPr id="18" name="TextBox 17"/>
          <p:cNvSpPr txBox="1"/>
          <p:nvPr/>
        </p:nvSpPr>
        <p:spPr>
          <a:xfrm>
            <a:off x="8115097" y="1520204"/>
            <a:ext cx="1076298" cy="388590"/>
          </a:xfrm>
          <a:prstGeom prst="rect">
            <a:avLst/>
          </a:prstGeom>
          <a:noFill/>
        </p:spPr>
        <p:txBody>
          <a:bodyPr wrap="square" lIns="0" rIns="0" tIns="0" bIns="0"/>
          <a:lstStyle/>
          <a:p>
            <a:pPr algn="l"/>
            <a:r>
              <a:rPr sz="100" b="1">
                <a:solidFill>
                  <a:srgbClr val="FFFFFF"/>
                </a:solidFill>
                <a:latin typeface="Inter"/>
              </a:rPr>
              <a:t>Tìm kiếm ngữ nghĩa</a:t>
            </a:r>
          </a:p>
        </p:txBody>
      </p:sp>
      <p:sp>
        <p:nvSpPr>
          <p:cNvPr id="19" name="TextBox 18"/>
          <p:cNvSpPr txBox="1"/>
          <p:nvPr/>
        </p:nvSpPr>
        <p:spPr>
          <a:xfrm>
            <a:off x="7572185" y="2071687"/>
            <a:ext cx="1619209" cy="640035"/>
          </a:xfrm>
          <a:prstGeom prst="rect">
            <a:avLst/>
          </a:prstGeom>
          <a:noFill/>
        </p:spPr>
        <p:txBody>
          <a:bodyPr wrap="square" lIns="0" rIns="0" tIns="0" bIns="0"/>
          <a:lstStyle/>
          <a:p>
            <a:pPr algn="l"/>
            <a:r>
              <a:rPr sz="100" b="0">
                <a:solidFill>
                  <a:srgbClr val="FFFFFF"/>
                </a:solidFill>
                <a:latin typeface="Inter"/>
              </a:rPr>
              <a:t>Tìm theo ý nghĩa thay vì từ khóa, chạm đúng đoạn cần.</a:t>
            </a:r>
          </a:p>
        </p:txBody>
      </p:sp>
      <p:sp>
        <p:nvSpPr>
          <p:cNvPr id="20" name="TextBox 19"/>
          <p:cNvSpPr txBox="1"/>
          <p:nvPr/>
        </p:nvSpPr>
        <p:spPr>
          <a:xfrm>
            <a:off x="7724581" y="4662487"/>
            <a:ext cx="366033" cy="147637"/>
          </a:xfrm>
          <a:prstGeom prst="rect">
            <a:avLst/>
          </a:prstGeom>
          <a:noFill/>
        </p:spPr>
        <p:txBody>
          <a:bodyPr wrap="square" lIns="0" rIns="0" tIns="0" bIns="0"/>
          <a:lstStyle/>
          <a:p>
            <a:pPr algn="l"/>
            <a:r>
              <a:rPr sz="100" b="0">
                <a:solidFill>
                  <a:srgbClr val="FFFFFF"/>
                </a:solidFill>
                <a:latin typeface="Inter"/>
              </a:rPr>
              <a:t>Active</a:t>
            </a:r>
          </a:p>
        </p:txBody>
      </p:sp>
      <p:sp>
        <p:nvSpPr>
          <p:cNvPr id="21" name="TextBox 20"/>
          <p:cNvSpPr txBox="1"/>
          <p:nvPr/>
        </p:nvSpPr>
        <p:spPr>
          <a:xfrm>
            <a:off x="7572185" y="4962525"/>
            <a:ext cx="783932" cy="252412"/>
          </a:xfrm>
          <a:prstGeom prst="rect">
            <a:avLst/>
          </a:prstGeom>
          <a:noFill/>
        </p:spPr>
        <p:txBody>
          <a:bodyPr wrap="square" lIns="0" rIns="0" tIns="0" bIns="0"/>
          <a:lstStyle/>
          <a:p>
            <a:pPr algn="l"/>
            <a:r>
              <a:rPr sz="100" b="1">
                <a:solidFill>
                  <a:srgbClr val="FFFFFF"/>
                </a:solidFill>
                <a:latin typeface="Inter"/>
              </a:rPr>
              <a:t>Semantic</a:t>
            </a:r>
          </a:p>
        </p:txBody>
      </p:sp>
      <p:sp>
        <p:nvSpPr>
          <p:cNvPr id="22" name="TextBox 21"/>
          <p:cNvSpPr txBox="1"/>
          <p:nvPr/>
        </p:nvSpPr>
        <p:spPr>
          <a:xfrm>
            <a:off x="10401039" y="1520204"/>
            <a:ext cx="1076298" cy="388590"/>
          </a:xfrm>
          <a:prstGeom prst="rect">
            <a:avLst/>
          </a:prstGeom>
          <a:noFill/>
        </p:spPr>
        <p:txBody>
          <a:bodyPr wrap="square" lIns="0" rIns="0" tIns="0" bIns="0"/>
          <a:lstStyle/>
          <a:p>
            <a:pPr algn="l"/>
            <a:r>
              <a:rPr sz="100" b="1">
                <a:solidFill>
                  <a:srgbClr val="FFFFFF"/>
                </a:solidFill>
                <a:latin typeface="Inter"/>
              </a:rPr>
              <a:t>Lịch sử hội thoại</a:t>
            </a:r>
          </a:p>
        </p:txBody>
      </p:sp>
      <p:sp>
        <p:nvSpPr>
          <p:cNvPr id="23" name="TextBox 22"/>
          <p:cNvSpPr txBox="1"/>
          <p:nvPr/>
        </p:nvSpPr>
        <p:spPr>
          <a:xfrm>
            <a:off x="9858128" y="2071687"/>
            <a:ext cx="1619209" cy="426690"/>
          </a:xfrm>
          <a:prstGeom prst="rect">
            <a:avLst/>
          </a:prstGeom>
          <a:noFill/>
        </p:spPr>
        <p:txBody>
          <a:bodyPr wrap="square" lIns="0" rIns="0" tIns="0" bIns="0"/>
          <a:lstStyle/>
          <a:p>
            <a:pPr algn="l"/>
            <a:r>
              <a:rPr sz="100" b="0">
                <a:solidFill>
                  <a:srgbClr val="FFFFFF"/>
                </a:solidFill>
                <a:latin typeface="Inter"/>
              </a:rPr>
              <a:t>Lưu, gắn nhãn và tiếp tục học từ các phiên trước.</a:t>
            </a:r>
          </a:p>
        </p:txBody>
      </p:sp>
      <p:sp>
        <p:nvSpPr>
          <p:cNvPr id="24" name="TextBox 23"/>
          <p:cNvSpPr txBox="1"/>
          <p:nvPr/>
        </p:nvSpPr>
        <p:spPr>
          <a:xfrm>
            <a:off x="10010524" y="4662487"/>
            <a:ext cx="440966" cy="147637"/>
          </a:xfrm>
          <a:prstGeom prst="rect">
            <a:avLst/>
          </a:prstGeom>
          <a:noFill/>
        </p:spPr>
        <p:txBody>
          <a:bodyPr wrap="square" lIns="0" rIns="0" tIns="0" bIns="0"/>
          <a:lstStyle/>
          <a:p>
            <a:pPr algn="l"/>
            <a:r>
              <a:rPr sz="100" b="0">
                <a:solidFill>
                  <a:srgbClr val="FFFFFF"/>
                </a:solidFill>
                <a:latin typeface="Inter"/>
              </a:rPr>
              <a:t>Synced</a:t>
            </a:r>
          </a:p>
        </p:txBody>
      </p:sp>
      <p:sp>
        <p:nvSpPr>
          <p:cNvPr id="25" name="TextBox 24"/>
          <p:cNvSpPr txBox="1"/>
          <p:nvPr/>
        </p:nvSpPr>
        <p:spPr>
          <a:xfrm>
            <a:off x="9858128" y="4962525"/>
            <a:ext cx="726635" cy="252412"/>
          </a:xfrm>
          <a:prstGeom prst="rect">
            <a:avLst/>
          </a:prstGeom>
          <a:noFill/>
        </p:spPr>
        <p:txBody>
          <a:bodyPr wrap="square" lIns="0" rIns="0" tIns="0" bIns="0"/>
          <a:lstStyle/>
          <a:p>
            <a:pPr algn="l"/>
            <a:r>
              <a:rPr sz="100" b="1">
                <a:solidFill>
                  <a:srgbClr val="FFFFFF"/>
                </a:solidFill>
                <a:latin typeface="Inter"/>
              </a:rPr>
              <a:t>Memory</a:t>
            </a:r>
          </a:p>
        </p:txBody>
      </p:sp>
      <p:sp>
        <p:nvSpPr>
          <p:cNvPr id="26" name="TextBox 25"/>
          <p:cNvSpPr txBox="1"/>
          <p:nvPr/>
        </p:nvSpPr>
        <p:spPr>
          <a:xfrm>
            <a:off x="1295367" y="6015037"/>
            <a:ext cx="4452826" cy="209550"/>
          </a:xfrm>
          <a:prstGeom prst="rect">
            <a:avLst/>
          </a:prstGeom>
          <a:noFill/>
        </p:spPr>
        <p:txBody>
          <a:bodyPr wrap="square" lIns="0" rIns="0" tIns="0" bIns="0"/>
          <a:lstStyle/>
          <a:p>
            <a:pPr algn="l"/>
            <a:r>
              <a:rPr sz="100" b="1">
                <a:solidFill>
                  <a:srgbClr val="FFFFFF"/>
                </a:solidFill>
                <a:latin typeface="Inter"/>
              </a:rPr>
              <a:t>Tính năng AI thông minh</a:t>
            </a:r>
          </a:p>
        </p:txBody>
      </p:sp>
      <p:sp>
        <p:nvSpPr>
          <p:cNvPr id="27" name="TextBox 26"/>
          <p:cNvSpPr txBox="1"/>
          <p:nvPr/>
        </p:nvSpPr>
        <p:spPr>
          <a:xfrm>
            <a:off x="1295367" y="6243637"/>
            <a:ext cx="4452826" cy="171450"/>
          </a:xfrm>
          <a:prstGeom prst="rect">
            <a:avLst/>
          </a:prstGeom>
          <a:noFill/>
        </p:spPr>
        <p:txBody>
          <a:bodyPr wrap="square" lIns="0" rIns="0" tIns="0" bIns="0"/>
          <a:lstStyle/>
          <a:p>
            <a:pPr algn="l"/>
            <a:r>
              <a:rPr sz="100" b="0">
                <a:solidFill>
                  <a:srgbClr val="FFFFFF"/>
                </a:solidFill>
                <a:latin typeface="Inter"/>
              </a:rPr>
              <a:t>Tự động tạo nội dung, minh họa và tương tác đa phương thức</a:t>
            </a:r>
          </a:p>
        </p:txBody>
      </p:sp>
      <p:sp>
        <p:nvSpPr>
          <p:cNvPr id="28" name="TextBox 27"/>
          <p:cNvSpPr txBox="1"/>
          <p:nvPr/>
        </p:nvSpPr>
        <p:spPr>
          <a:xfrm>
            <a:off x="7034036" y="6015037"/>
            <a:ext cx="4452826" cy="209550"/>
          </a:xfrm>
          <a:prstGeom prst="rect">
            <a:avLst/>
          </a:prstGeom>
          <a:noFill/>
        </p:spPr>
        <p:txBody>
          <a:bodyPr wrap="square" lIns="0" rIns="0" tIns="0" bIns="0"/>
          <a:lstStyle/>
          <a:p>
            <a:pPr algn="l"/>
            <a:r>
              <a:rPr sz="100" b="1">
                <a:solidFill>
                  <a:srgbClr val="FFFFFF"/>
                </a:solidFill>
                <a:latin typeface="Inter"/>
              </a:rPr>
              <a:t>Trải nghiệm cá nhân hóa</a:t>
            </a:r>
          </a:p>
        </p:txBody>
      </p:sp>
      <p:sp>
        <p:nvSpPr>
          <p:cNvPr id="29" name="TextBox 28"/>
          <p:cNvSpPr txBox="1"/>
          <p:nvPr/>
        </p:nvSpPr>
        <p:spPr>
          <a:xfrm>
            <a:off x="7034036" y="6243637"/>
            <a:ext cx="4452826" cy="171450"/>
          </a:xfrm>
          <a:prstGeom prst="rect">
            <a:avLst/>
          </a:prstGeom>
          <a:noFill/>
        </p:spPr>
        <p:txBody>
          <a:bodyPr wrap="square" lIns="0" rIns="0" tIns="0" bIns="0"/>
          <a:lstStyle/>
          <a:p>
            <a:pPr algn="l"/>
            <a:r>
              <a:rPr sz="100" b="0">
                <a:solidFill>
                  <a:srgbClr val="FFFFFF"/>
                </a:solidFill>
                <a:latin typeface="Inter"/>
              </a:rPr>
              <a:t>Phù hợp với từng nhu cầu học tập của sinh viên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1133446" y="380999"/>
            <a:ext cx="3771433" cy="414337"/>
          </a:xfrm>
          <a:prstGeom prst="rect">
            <a:avLst/>
          </a:prstGeom>
          <a:noFill/>
        </p:spPr>
        <p:txBody>
          <a:bodyPr wrap="square" lIns="0" rIns="0" tIns="0" bIns="0"/>
          <a:lstStyle/>
          <a:p>
            <a:pPr algn="l"/>
            <a:r>
              <a:rPr sz="100" b="1">
                <a:solidFill>
                  <a:srgbClr val="FFFFFF"/>
                </a:solidFill>
                <a:latin typeface="Inter"/>
              </a:rPr>
              <a:t>Công nghệ &amp; Kiến trúc</a:t>
            </a:r>
          </a:p>
        </p:txBody>
      </p:sp>
      <p:sp>
        <p:nvSpPr>
          <p:cNvPr id="4" name="TextBox 3"/>
          <p:cNvSpPr txBox="1"/>
          <p:nvPr/>
        </p:nvSpPr>
        <p:spPr>
          <a:xfrm>
            <a:off x="1133446" y="814387"/>
            <a:ext cx="3771433" cy="209550"/>
          </a:xfrm>
          <a:prstGeom prst="rect">
            <a:avLst/>
          </a:prstGeom>
          <a:noFill/>
        </p:spPr>
        <p:txBody>
          <a:bodyPr wrap="square" lIns="0" rIns="0" tIns="0" bIns="0"/>
          <a:lstStyle/>
          <a:p>
            <a:pPr algn="l"/>
            <a:r>
              <a:rPr sz="100" b="0">
                <a:solidFill>
                  <a:srgbClr val="FFFFFF"/>
                </a:solidFill>
                <a:latin typeface="Inter"/>
              </a:rPr>
              <a:t>Hệ thống AI RAG cho sinh viên PTIT</a:t>
            </a:r>
          </a:p>
        </p:txBody>
      </p:sp>
      <p:sp>
        <p:nvSpPr>
          <p:cNvPr id="5" name="TextBox 4"/>
          <p:cNvSpPr txBox="1"/>
          <p:nvPr/>
        </p:nvSpPr>
        <p:spPr>
          <a:xfrm>
            <a:off x="9546639" y="609600"/>
            <a:ext cx="2168818" cy="185737"/>
          </a:xfrm>
          <a:prstGeom prst="rect">
            <a:avLst/>
          </a:prstGeom>
          <a:noFill/>
        </p:spPr>
        <p:txBody>
          <a:bodyPr wrap="square" lIns="0" rIns="0" tIns="0" bIns="0"/>
          <a:lstStyle/>
          <a:p>
            <a:pPr algn="l"/>
            <a:r>
              <a:rPr sz="100" b="0">
                <a:solidFill>
                  <a:srgbClr val="FFFFFF"/>
                </a:solidFill>
                <a:latin typeface="Inter"/>
              </a:rPr>
              <a:t>Ngày hội Đọc sách PTIT 2026</a:t>
            </a:r>
          </a:p>
        </p:txBody>
      </p:sp>
      <p:sp>
        <p:nvSpPr>
          <p:cNvPr id="6" name="TextBox 5"/>
          <p:cNvSpPr txBox="1"/>
          <p:nvPr/>
        </p:nvSpPr>
        <p:spPr>
          <a:xfrm>
            <a:off x="1504912" y="1635918"/>
            <a:ext cx="1249604" cy="209550"/>
          </a:xfrm>
          <a:prstGeom prst="rect">
            <a:avLst/>
          </a:prstGeom>
          <a:noFill/>
        </p:spPr>
        <p:txBody>
          <a:bodyPr wrap="square" lIns="0" rIns="0" tIns="0" bIns="0"/>
          <a:lstStyle/>
          <a:p>
            <a:pPr algn="l"/>
            <a:r>
              <a:rPr sz="100" b="1">
                <a:solidFill>
                  <a:srgbClr val="FFFFFF"/>
                </a:solidFill>
                <a:latin typeface="Inter"/>
              </a:rPr>
              <a:t>Frontend</a:t>
            </a:r>
          </a:p>
        </p:txBody>
      </p:sp>
      <p:sp>
        <p:nvSpPr>
          <p:cNvPr id="7" name="TextBox 6"/>
          <p:cNvSpPr txBox="1"/>
          <p:nvPr/>
        </p:nvSpPr>
        <p:spPr>
          <a:xfrm>
            <a:off x="1504912" y="1864518"/>
            <a:ext cx="1249604" cy="147637"/>
          </a:xfrm>
          <a:prstGeom prst="rect">
            <a:avLst/>
          </a:prstGeom>
          <a:noFill/>
        </p:spPr>
        <p:txBody>
          <a:bodyPr wrap="square" lIns="0" rIns="0" tIns="0" bIns="0"/>
          <a:lstStyle/>
          <a:p>
            <a:pPr algn="l"/>
            <a:r>
              <a:rPr sz="100" b="0">
                <a:solidFill>
                  <a:srgbClr val="FFFFFF"/>
                </a:solidFill>
                <a:latin typeface="Inter"/>
              </a:rPr>
              <a:t>Giao diện người dùng</a:t>
            </a:r>
          </a:p>
        </p:txBody>
      </p:sp>
      <p:sp>
        <p:nvSpPr>
          <p:cNvPr id="8" name="TextBox 7"/>
          <p:cNvSpPr txBox="1"/>
          <p:nvPr/>
        </p:nvSpPr>
        <p:spPr>
          <a:xfrm>
            <a:off x="3257468" y="1676400"/>
            <a:ext cx="843015" cy="295275"/>
          </a:xfrm>
          <a:prstGeom prst="rect">
            <a:avLst/>
          </a:prstGeom>
          <a:noFill/>
        </p:spPr>
        <p:txBody>
          <a:bodyPr wrap="square" lIns="0" rIns="0" tIns="0" bIns="0"/>
          <a:lstStyle/>
          <a:p>
            <a:pPr algn="l"/>
            <a:r>
              <a:rPr sz="100" b="1">
                <a:solidFill>
                  <a:srgbClr val="FFFFFF"/>
                </a:solidFill>
                <a:latin typeface="Inter"/>
              </a:rPr>
              <a:t>React</a:t>
            </a:r>
          </a:p>
        </p:txBody>
      </p:sp>
      <p:sp>
        <p:nvSpPr>
          <p:cNvPr id="9" name="TextBox 8"/>
          <p:cNvSpPr txBox="1"/>
          <p:nvPr/>
        </p:nvSpPr>
        <p:spPr>
          <a:xfrm>
            <a:off x="4214781" y="1676400"/>
            <a:ext cx="1255631" cy="295275"/>
          </a:xfrm>
          <a:prstGeom prst="rect">
            <a:avLst/>
          </a:prstGeom>
          <a:noFill/>
        </p:spPr>
        <p:txBody>
          <a:bodyPr wrap="square" lIns="0" rIns="0" tIns="0" bIns="0"/>
          <a:lstStyle/>
          <a:p>
            <a:pPr algn="l"/>
            <a:r>
              <a:rPr sz="100" b="1">
                <a:solidFill>
                  <a:srgbClr val="FFFFFF"/>
                </a:solidFill>
                <a:latin typeface="Inter"/>
              </a:rPr>
              <a:t>TailwindCSS</a:t>
            </a:r>
          </a:p>
        </p:txBody>
      </p:sp>
      <p:sp>
        <p:nvSpPr>
          <p:cNvPr id="10" name="TextBox 9"/>
          <p:cNvSpPr txBox="1"/>
          <p:nvPr/>
        </p:nvSpPr>
        <p:spPr>
          <a:xfrm>
            <a:off x="5584710" y="1676400"/>
            <a:ext cx="1165592" cy="295275"/>
          </a:xfrm>
          <a:prstGeom prst="rect">
            <a:avLst/>
          </a:prstGeom>
          <a:noFill/>
        </p:spPr>
        <p:txBody>
          <a:bodyPr wrap="square" lIns="0" rIns="0" tIns="0" bIns="0"/>
          <a:lstStyle/>
          <a:p>
            <a:pPr algn="l"/>
            <a:r>
              <a:rPr sz="100" b="1">
                <a:solidFill>
                  <a:srgbClr val="FFFFFF"/>
                </a:solidFill>
                <a:latin typeface="Inter"/>
              </a:rPr>
              <a:t>TypeScript</a:t>
            </a:r>
          </a:p>
        </p:txBody>
      </p:sp>
      <p:sp>
        <p:nvSpPr>
          <p:cNvPr id="11" name="TextBox 10"/>
          <p:cNvSpPr txBox="1"/>
          <p:nvPr/>
        </p:nvSpPr>
        <p:spPr>
          <a:xfrm>
            <a:off x="6864600" y="1676400"/>
            <a:ext cx="1193869" cy="295275"/>
          </a:xfrm>
          <a:prstGeom prst="rect">
            <a:avLst/>
          </a:prstGeom>
          <a:noFill/>
        </p:spPr>
        <p:txBody>
          <a:bodyPr wrap="square" lIns="0" rIns="0" tIns="0" bIns="0"/>
          <a:lstStyle/>
          <a:p>
            <a:pPr algn="l"/>
            <a:r>
              <a:rPr sz="100" b="1">
                <a:solidFill>
                  <a:srgbClr val="FFFFFF"/>
                </a:solidFill>
                <a:latin typeface="Inter"/>
              </a:rPr>
              <a:t>Responsive</a:t>
            </a:r>
          </a:p>
        </p:txBody>
      </p:sp>
      <p:sp>
        <p:nvSpPr>
          <p:cNvPr id="12" name="TextBox 11"/>
          <p:cNvSpPr txBox="1"/>
          <p:nvPr/>
        </p:nvSpPr>
        <p:spPr>
          <a:xfrm>
            <a:off x="1504912" y="2702718"/>
            <a:ext cx="726411" cy="209550"/>
          </a:xfrm>
          <a:prstGeom prst="rect">
            <a:avLst/>
          </a:prstGeom>
          <a:noFill/>
        </p:spPr>
        <p:txBody>
          <a:bodyPr wrap="square" lIns="0" rIns="0" tIns="0" bIns="0"/>
          <a:lstStyle/>
          <a:p>
            <a:pPr algn="l"/>
            <a:r>
              <a:rPr sz="100" b="1">
                <a:solidFill>
                  <a:srgbClr val="FFFFFF"/>
                </a:solidFill>
                <a:latin typeface="Inter"/>
              </a:rPr>
              <a:t>Backend</a:t>
            </a:r>
          </a:p>
        </p:txBody>
      </p:sp>
      <p:sp>
        <p:nvSpPr>
          <p:cNvPr id="13" name="TextBox 12"/>
          <p:cNvSpPr txBox="1"/>
          <p:nvPr/>
        </p:nvSpPr>
        <p:spPr>
          <a:xfrm>
            <a:off x="1504912" y="2931318"/>
            <a:ext cx="726411" cy="147637"/>
          </a:xfrm>
          <a:prstGeom prst="rect">
            <a:avLst/>
          </a:prstGeom>
          <a:noFill/>
        </p:spPr>
        <p:txBody>
          <a:bodyPr wrap="square" lIns="0" rIns="0" tIns="0" bIns="0"/>
          <a:lstStyle/>
          <a:p>
            <a:pPr algn="l"/>
            <a:r>
              <a:rPr sz="100" b="0">
                <a:solidFill>
                  <a:srgbClr val="FFFFFF"/>
                </a:solidFill>
                <a:latin typeface="Inter"/>
              </a:rPr>
              <a:t>Xử lý &amp; API</a:t>
            </a:r>
          </a:p>
        </p:txBody>
      </p:sp>
      <p:sp>
        <p:nvSpPr>
          <p:cNvPr id="14" name="TextBox 13"/>
          <p:cNvSpPr txBox="1"/>
          <p:nvPr/>
        </p:nvSpPr>
        <p:spPr>
          <a:xfrm>
            <a:off x="3257468" y="2743200"/>
            <a:ext cx="920404" cy="295275"/>
          </a:xfrm>
          <a:prstGeom prst="rect">
            <a:avLst/>
          </a:prstGeom>
          <a:noFill/>
        </p:spPr>
        <p:txBody>
          <a:bodyPr wrap="square" lIns="0" rIns="0" tIns="0" bIns="0"/>
          <a:lstStyle/>
          <a:p>
            <a:pPr algn="l"/>
            <a:r>
              <a:rPr sz="100" b="1">
                <a:solidFill>
                  <a:srgbClr val="FFFFFF"/>
                </a:solidFill>
                <a:latin typeface="Inter"/>
              </a:rPr>
              <a:t>Python</a:t>
            </a:r>
          </a:p>
        </p:txBody>
      </p:sp>
      <p:sp>
        <p:nvSpPr>
          <p:cNvPr id="15" name="TextBox 14"/>
          <p:cNvSpPr txBox="1"/>
          <p:nvPr/>
        </p:nvSpPr>
        <p:spPr>
          <a:xfrm>
            <a:off x="4292170" y="2743200"/>
            <a:ext cx="954634" cy="295275"/>
          </a:xfrm>
          <a:prstGeom prst="rect">
            <a:avLst/>
          </a:prstGeom>
          <a:noFill/>
        </p:spPr>
        <p:txBody>
          <a:bodyPr wrap="square" lIns="0" rIns="0" tIns="0" bIns="0"/>
          <a:lstStyle/>
          <a:p>
            <a:pPr algn="l"/>
            <a:r>
              <a:rPr sz="100" b="1">
                <a:solidFill>
                  <a:srgbClr val="FFFFFF"/>
                </a:solidFill>
                <a:latin typeface="Inter"/>
              </a:rPr>
              <a:t>FastAPI</a:t>
            </a:r>
          </a:p>
        </p:txBody>
      </p:sp>
      <p:sp>
        <p:nvSpPr>
          <p:cNvPr id="16" name="TextBox 15"/>
          <p:cNvSpPr txBox="1"/>
          <p:nvPr/>
        </p:nvSpPr>
        <p:spPr>
          <a:xfrm>
            <a:off x="5361101" y="2743200"/>
            <a:ext cx="1194762" cy="295275"/>
          </a:xfrm>
          <a:prstGeom prst="rect">
            <a:avLst/>
          </a:prstGeom>
          <a:noFill/>
        </p:spPr>
        <p:txBody>
          <a:bodyPr wrap="square" lIns="0" rIns="0" tIns="0" bIns="0"/>
          <a:lstStyle/>
          <a:p>
            <a:pPr algn="l"/>
            <a:r>
              <a:rPr sz="100" b="1">
                <a:solidFill>
                  <a:srgbClr val="FFFFFF"/>
                </a:solidFill>
                <a:latin typeface="Inter"/>
              </a:rPr>
              <a:t>LangChain</a:t>
            </a:r>
          </a:p>
        </p:txBody>
      </p:sp>
      <p:sp>
        <p:nvSpPr>
          <p:cNvPr id="17" name="TextBox 16"/>
          <p:cNvSpPr txBox="1"/>
          <p:nvPr/>
        </p:nvSpPr>
        <p:spPr>
          <a:xfrm>
            <a:off x="6670160" y="2743200"/>
            <a:ext cx="1224676" cy="295275"/>
          </a:xfrm>
          <a:prstGeom prst="rect">
            <a:avLst/>
          </a:prstGeom>
          <a:noFill/>
        </p:spPr>
        <p:txBody>
          <a:bodyPr wrap="square" lIns="0" rIns="0" tIns="0" bIns="0"/>
          <a:lstStyle/>
          <a:p>
            <a:pPr algn="l"/>
            <a:r>
              <a:rPr sz="100" b="1">
                <a:solidFill>
                  <a:srgbClr val="FFFFFF"/>
                </a:solidFill>
                <a:latin typeface="Inter"/>
              </a:rPr>
              <a:t>PostgreSQL</a:t>
            </a:r>
          </a:p>
        </p:txBody>
      </p:sp>
      <p:sp>
        <p:nvSpPr>
          <p:cNvPr id="18" name="TextBox 17"/>
          <p:cNvSpPr txBox="1"/>
          <p:nvPr/>
        </p:nvSpPr>
        <p:spPr>
          <a:xfrm>
            <a:off x="1504912" y="3769518"/>
            <a:ext cx="1186576" cy="209550"/>
          </a:xfrm>
          <a:prstGeom prst="rect">
            <a:avLst/>
          </a:prstGeom>
          <a:noFill/>
        </p:spPr>
        <p:txBody>
          <a:bodyPr wrap="square" lIns="0" rIns="0" tIns="0" bIns="0"/>
          <a:lstStyle/>
          <a:p>
            <a:pPr algn="l"/>
            <a:r>
              <a:rPr sz="100" b="1">
                <a:solidFill>
                  <a:srgbClr val="FFFFFF"/>
                </a:solidFill>
                <a:latin typeface="Inter"/>
              </a:rPr>
              <a:t>AI &amp; Data</a:t>
            </a:r>
          </a:p>
        </p:txBody>
      </p:sp>
      <p:sp>
        <p:nvSpPr>
          <p:cNvPr id="19" name="TextBox 18"/>
          <p:cNvSpPr txBox="1"/>
          <p:nvPr/>
        </p:nvSpPr>
        <p:spPr>
          <a:xfrm>
            <a:off x="1504912" y="3998118"/>
            <a:ext cx="1186576" cy="147637"/>
          </a:xfrm>
          <a:prstGeom prst="rect">
            <a:avLst/>
          </a:prstGeom>
          <a:noFill/>
        </p:spPr>
        <p:txBody>
          <a:bodyPr wrap="square" lIns="0" rIns="0" tIns="0" bIns="0"/>
          <a:lstStyle/>
          <a:p>
            <a:pPr algn="l"/>
            <a:r>
              <a:rPr sz="100" b="0">
                <a:solidFill>
                  <a:srgbClr val="FFFFFF"/>
                </a:solidFill>
                <a:latin typeface="Inter"/>
              </a:rPr>
              <a:t>Xử lý AI &amp; Vector DB</a:t>
            </a:r>
          </a:p>
        </p:txBody>
      </p:sp>
      <p:sp>
        <p:nvSpPr>
          <p:cNvPr id="20" name="TextBox 19"/>
          <p:cNvSpPr txBox="1"/>
          <p:nvPr/>
        </p:nvSpPr>
        <p:spPr>
          <a:xfrm>
            <a:off x="3257468" y="3810000"/>
            <a:ext cx="1292391" cy="295275"/>
          </a:xfrm>
          <a:prstGeom prst="rect">
            <a:avLst/>
          </a:prstGeom>
          <a:noFill/>
        </p:spPr>
        <p:txBody>
          <a:bodyPr wrap="square" lIns="0" rIns="0" tIns="0" bIns="0"/>
          <a:lstStyle/>
          <a:p>
            <a:pPr algn="l"/>
            <a:r>
              <a:rPr sz="100" b="1">
                <a:solidFill>
                  <a:srgbClr val="FFFFFF"/>
                </a:solidFill>
                <a:latin typeface="Inter"/>
              </a:rPr>
              <a:t>OpenAI GPT</a:t>
            </a:r>
          </a:p>
        </p:txBody>
      </p:sp>
      <p:sp>
        <p:nvSpPr>
          <p:cNvPr id="21" name="TextBox 20"/>
          <p:cNvSpPr txBox="1"/>
          <p:nvPr/>
        </p:nvSpPr>
        <p:spPr>
          <a:xfrm>
            <a:off x="4664156" y="3810000"/>
            <a:ext cx="1105542" cy="295275"/>
          </a:xfrm>
          <a:prstGeom prst="rect">
            <a:avLst/>
          </a:prstGeom>
          <a:noFill/>
        </p:spPr>
        <p:txBody>
          <a:bodyPr wrap="square" lIns="0" rIns="0" tIns="0" bIns="0"/>
          <a:lstStyle/>
          <a:p>
            <a:pPr algn="l"/>
            <a:r>
              <a:rPr sz="100" b="1">
                <a:solidFill>
                  <a:srgbClr val="FFFFFF"/>
                </a:solidFill>
                <a:latin typeface="Inter"/>
              </a:rPr>
              <a:t>Vector DB</a:t>
            </a:r>
          </a:p>
        </p:txBody>
      </p:sp>
      <p:sp>
        <p:nvSpPr>
          <p:cNvPr id="22" name="TextBox 21"/>
          <p:cNvSpPr txBox="1"/>
          <p:nvPr/>
        </p:nvSpPr>
        <p:spPr>
          <a:xfrm>
            <a:off x="5883996" y="3810000"/>
            <a:ext cx="1264412" cy="295275"/>
          </a:xfrm>
          <a:prstGeom prst="rect">
            <a:avLst/>
          </a:prstGeom>
          <a:noFill/>
        </p:spPr>
        <p:txBody>
          <a:bodyPr wrap="square" lIns="0" rIns="0" tIns="0" bIns="0"/>
          <a:lstStyle/>
          <a:p>
            <a:pPr algn="l"/>
            <a:r>
              <a:rPr sz="100" b="1">
                <a:solidFill>
                  <a:srgbClr val="FFFFFF"/>
                </a:solidFill>
                <a:latin typeface="Inter"/>
              </a:rPr>
              <a:t>Embeddings</a:t>
            </a:r>
          </a:p>
        </p:txBody>
      </p:sp>
      <p:sp>
        <p:nvSpPr>
          <p:cNvPr id="23" name="TextBox 22"/>
          <p:cNvSpPr txBox="1"/>
          <p:nvPr/>
        </p:nvSpPr>
        <p:spPr>
          <a:xfrm>
            <a:off x="7262705" y="3810000"/>
            <a:ext cx="1566079" cy="295275"/>
          </a:xfrm>
          <a:prstGeom prst="rect">
            <a:avLst/>
          </a:prstGeom>
          <a:noFill/>
        </p:spPr>
        <p:txBody>
          <a:bodyPr wrap="square" lIns="0" rIns="0" tIns="0" bIns="0"/>
          <a:lstStyle/>
          <a:p>
            <a:pPr algn="l"/>
            <a:r>
              <a:rPr sz="100" b="1">
                <a:solidFill>
                  <a:srgbClr val="FFFFFF"/>
                </a:solidFill>
                <a:latin typeface="Inter"/>
              </a:rPr>
              <a:t>Semantic Search</a:t>
            </a:r>
          </a:p>
        </p:txBody>
      </p:sp>
      <p:sp>
        <p:nvSpPr>
          <p:cNvPr id="24" name="TextBox 23"/>
          <p:cNvSpPr txBox="1"/>
          <p:nvPr/>
        </p:nvSpPr>
        <p:spPr>
          <a:xfrm>
            <a:off x="1504912" y="4836318"/>
            <a:ext cx="1163658" cy="209550"/>
          </a:xfrm>
          <a:prstGeom prst="rect">
            <a:avLst/>
          </a:prstGeom>
          <a:noFill/>
        </p:spPr>
        <p:txBody>
          <a:bodyPr wrap="square" lIns="0" rIns="0" tIns="0" bIns="0"/>
          <a:lstStyle/>
          <a:p>
            <a:pPr algn="l"/>
            <a:r>
              <a:rPr sz="100" b="1">
                <a:solidFill>
                  <a:srgbClr val="FFFFFF"/>
                </a:solidFill>
                <a:latin typeface="Inter"/>
              </a:rPr>
              <a:t>Infrastructure</a:t>
            </a:r>
          </a:p>
        </p:txBody>
      </p:sp>
      <p:sp>
        <p:nvSpPr>
          <p:cNvPr id="25" name="TextBox 24"/>
          <p:cNvSpPr txBox="1"/>
          <p:nvPr/>
        </p:nvSpPr>
        <p:spPr>
          <a:xfrm>
            <a:off x="1504912" y="5064918"/>
            <a:ext cx="1163658" cy="147637"/>
          </a:xfrm>
          <a:prstGeom prst="rect">
            <a:avLst/>
          </a:prstGeom>
          <a:noFill/>
        </p:spPr>
        <p:txBody>
          <a:bodyPr wrap="square" lIns="0" rIns="0" tIns="0" bIns="0"/>
          <a:lstStyle/>
          <a:p>
            <a:pPr algn="l"/>
            <a:r>
              <a:rPr sz="100" b="0">
                <a:solidFill>
                  <a:srgbClr val="FFFFFF"/>
                </a:solidFill>
                <a:latin typeface="Inter"/>
              </a:rPr>
              <a:t>Hạ tầng &amp; Bảo mật</a:t>
            </a:r>
          </a:p>
        </p:txBody>
      </p:sp>
      <p:sp>
        <p:nvSpPr>
          <p:cNvPr id="26" name="TextBox 25"/>
          <p:cNvSpPr txBox="1"/>
          <p:nvPr/>
        </p:nvSpPr>
        <p:spPr>
          <a:xfrm>
            <a:off x="3257468" y="4876800"/>
            <a:ext cx="844950" cy="295275"/>
          </a:xfrm>
          <a:prstGeom prst="rect">
            <a:avLst/>
          </a:prstGeom>
          <a:noFill/>
        </p:spPr>
        <p:txBody>
          <a:bodyPr wrap="square" lIns="0" rIns="0" tIns="0" bIns="0"/>
          <a:lstStyle/>
          <a:p>
            <a:pPr algn="l"/>
            <a:r>
              <a:rPr sz="100" b="1">
                <a:solidFill>
                  <a:srgbClr val="FFFFFF"/>
                </a:solidFill>
                <a:latin typeface="Inter"/>
              </a:rPr>
              <a:t>Azure</a:t>
            </a:r>
          </a:p>
        </p:txBody>
      </p:sp>
      <p:sp>
        <p:nvSpPr>
          <p:cNvPr id="27" name="TextBox 26"/>
          <p:cNvSpPr txBox="1"/>
          <p:nvPr/>
        </p:nvSpPr>
        <p:spPr>
          <a:xfrm>
            <a:off x="4216716" y="4876800"/>
            <a:ext cx="1116480" cy="295275"/>
          </a:xfrm>
          <a:prstGeom prst="rect">
            <a:avLst/>
          </a:prstGeom>
          <a:noFill/>
        </p:spPr>
        <p:txBody>
          <a:bodyPr wrap="square" lIns="0" rIns="0" tIns="0" bIns="0"/>
          <a:lstStyle/>
          <a:p>
            <a:pPr algn="l"/>
            <a:r>
              <a:rPr sz="100" b="1">
                <a:solidFill>
                  <a:srgbClr val="FFFFFF"/>
                </a:solidFill>
                <a:latin typeface="Inter"/>
              </a:rPr>
              <a:t>Auth PTIT</a:t>
            </a:r>
          </a:p>
        </p:txBody>
      </p:sp>
      <p:sp>
        <p:nvSpPr>
          <p:cNvPr id="28" name="TextBox 27"/>
          <p:cNvSpPr txBox="1"/>
          <p:nvPr/>
        </p:nvSpPr>
        <p:spPr>
          <a:xfrm>
            <a:off x="5447494" y="4876800"/>
            <a:ext cx="763320" cy="295275"/>
          </a:xfrm>
          <a:prstGeom prst="rect">
            <a:avLst/>
          </a:prstGeom>
          <a:noFill/>
        </p:spPr>
        <p:txBody>
          <a:bodyPr wrap="square" lIns="0" rIns="0" tIns="0" bIns="0"/>
          <a:lstStyle/>
          <a:p>
            <a:pPr algn="l"/>
            <a:r>
              <a:rPr sz="100" b="1">
                <a:solidFill>
                  <a:srgbClr val="FFFFFF"/>
                </a:solidFill>
                <a:latin typeface="Inter"/>
              </a:rPr>
              <a:t>JWT</a:t>
            </a:r>
          </a:p>
        </p:txBody>
      </p:sp>
      <p:sp>
        <p:nvSpPr>
          <p:cNvPr id="29" name="TextBox 28"/>
          <p:cNvSpPr txBox="1"/>
          <p:nvPr/>
        </p:nvSpPr>
        <p:spPr>
          <a:xfrm>
            <a:off x="6325111" y="4876800"/>
            <a:ext cx="780807" cy="295275"/>
          </a:xfrm>
          <a:prstGeom prst="rect">
            <a:avLst/>
          </a:prstGeom>
          <a:noFill/>
        </p:spPr>
        <p:txBody>
          <a:bodyPr wrap="square" lIns="0" rIns="0" tIns="0" bIns="0"/>
          <a:lstStyle/>
          <a:p>
            <a:pPr algn="l"/>
            <a:r>
              <a:rPr sz="100" b="1">
                <a:solidFill>
                  <a:srgbClr val="FFFFFF"/>
                </a:solidFill>
                <a:latin typeface="Inter"/>
              </a:rPr>
              <a:t>SSO</a:t>
            </a:r>
          </a:p>
        </p:txBody>
      </p:sp>
      <p:sp>
        <p:nvSpPr>
          <p:cNvPr id="30" name="TextBox 29"/>
          <p:cNvSpPr txBox="1"/>
          <p:nvPr/>
        </p:nvSpPr>
        <p:spPr>
          <a:xfrm>
            <a:off x="1181070" y="6007893"/>
            <a:ext cx="1781130" cy="147637"/>
          </a:xfrm>
          <a:prstGeom prst="rect">
            <a:avLst/>
          </a:prstGeom>
          <a:noFill/>
        </p:spPr>
        <p:txBody>
          <a:bodyPr wrap="square" lIns="0" rIns="0" tIns="0" bIns="0"/>
          <a:lstStyle/>
          <a:p>
            <a:pPr algn="l"/>
            <a:r>
              <a:rPr sz="100" b="0">
                <a:solidFill>
                  <a:srgbClr val="FFFFFF"/>
                </a:solidFill>
                <a:latin typeface="Inter"/>
              </a:rPr>
              <a:t>Hiệu suất</a:t>
            </a:r>
          </a:p>
        </p:txBody>
      </p:sp>
      <p:sp>
        <p:nvSpPr>
          <p:cNvPr id="31" name="TextBox 30"/>
          <p:cNvSpPr txBox="1"/>
          <p:nvPr/>
        </p:nvSpPr>
        <p:spPr>
          <a:xfrm>
            <a:off x="1181070" y="6174581"/>
            <a:ext cx="1781130" cy="209550"/>
          </a:xfrm>
          <a:prstGeom prst="rect">
            <a:avLst/>
          </a:prstGeom>
          <a:noFill/>
        </p:spPr>
        <p:txBody>
          <a:bodyPr wrap="square" lIns="0" rIns="0" tIns="0" bIns="0"/>
          <a:lstStyle/>
          <a:p>
            <a:pPr algn="l"/>
            <a:r>
              <a:rPr sz="100" b="1">
                <a:solidFill>
                  <a:srgbClr val="FFFFFF"/>
                </a:solidFill>
                <a:latin typeface="Inter"/>
              </a:rPr>
              <a:t>99.9%</a:t>
            </a:r>
          </a:p>
        </p:txBody>
      </p:sp>
      <p:sp>
        <p:nvSpPr>
          <p:cNvPr id="32" name="TextBox 31"/>
          <p:cNvSpPr txBox="1"/>
          <p:nvPr/>
        </p:nvSpPr>
        <p:spPr>
          <a:xfrm>
            <a:off x="4038499" y="6007893"/>
            <a:ext cx="1781130" cy="147637"/>
          </a:xfrm>
          <a:prstGeom prst="rect">
            <a:avLst/>
          </a:prstGeom>
          <a:noFill/>
        </p:spPr>
        <p:txBody>
          <a:bodyPr wrap="square" lIns="0" rIns="0" tIns="0" bIns="0"/>
          <a:lstStyle/>
          <a:p>
            <a:pPr algn="l"/>
            <a:r>
              <a:rPr sz="100" b="0">
                <a:solidFill>
                  <a:srgbClr val="FFFFFF"/>
                </a:solidFill>
                <a:latin typeface="Inter"/>
              </a:rPr>
              <a:t>Thời gian phản hồi</a:t>
            </a:r>
          </a:p>
        </p:txBody>
      </p:sp>
      <p:sp>
        <p:nvSpPr>
          <p:cNvPr id="33" name="TextBox 32"/>
          <p:cNvSpPr txBox="1"/>
          <p:nvPr/>
        </p:nvSpPr>
        <p:spPr>
          <a:xfrm>
            <a:off x="4038499" y="6174581"/>
            <a:ext cx="1781130" cy="209550"/>
          </a:xfrm>
          <a:prstGeom prst="rect">
            <a:avLst/>
          </a:prstGeom>
          <a:noFill/>
        </p:spPr>
        <p:txBody>
          <a:bodyPr wrap="square" lIns="0" rIns="0" tIns="0" bIns="0"/>
          <a:lstStyle/>
          <a:p>
            <a:pPr algn="l"/>
            <a:r>
              <a:rPr sz="100" b="1">
                <a:solidFill>
                  <a:srgbClr val="FFFFFF"/>
                </a:solidFill>
                <a:latin typeface="Inter"/>
              </a:rPr>
              <a:t>&lt; 1s</a:t>
            </a:r>
          </a:p>
        </p:txBody>
      </p:sp>
      <p:sp>
        <p:nvSpPr>
          <p:cNvPr id="34" name="TextBox 33"/>
          <p:cNvSpPr txBox="1"/>
          <p:nvPr/>
        </p:nvSpPr>
        <p:spPr>
          <a:xfrm>
            <a:off x="6895927" y="6007893"/>
            <a:ext cx="1781130" cy="147637"/>
          </a:xfrm>
          <a:prstGeom prst="rect">
            <a:avLst/>
          </a:prstGeom>
          <a:noFill/>
        </p:spPr>
        <p:txBody>
          <a:bodyPr wrap="square" lIns="0" rIns="0" tIns="0" bIns="0"/>
          <a:lstStyle/>
          <a:p>
            <a:pPr algn="l"/>
            <a:r>
              <a:rPr sz="100" b="0">
                <a:solidFill>
                  <a:srgbClr val="FFFFFF"/>
                </a:solidFill>
                <a:latin typeface="Inter"/>
              </a:rPr>
              <a:t>Người dùng</a:t>
            </a:r>
          </a:p>
        </p:txBody>
      </p:sp>
      <p:sp>
        <p:nvSpPr>
          <p:cNvPr id="35" name="TextBox 34"/>
          <p:cNvSpPr txBox="1"/>
          <p:nvPr/>
        </p:nvSpPr>
        <p:spPr>
          <a:xfrm>
            <a:off x="6895927" y="6174581"/>
            <a:ext cx="1781130" cy="209550"/>
          </a:xfrm>
          <a:prstGeom prst="rect">
            <a:avLst/>
          </a:prstGeom>
          <a:noFill/>
        </p:spPr>
        <p:txBody>
          <a:bodyPr wrap="square" lIns="0" rIns="0" tIns="0" bIns="0"/>
          <a:lstStyle/>
          <a:p>
            <a:pPr algn="l"/>
            <a:r>
              <a:rPr sz="100" b="1">
                <a:solidFill>
                  <a:srgbClr val="FFFFFF"/>
                </a:solidFill>
                <a:latin typeface="Inter"/>
              </a:rPr>
              <a:t>1000+</a:t>
            </a:r>
          </a:p>
        </p:txBody>
      </p:sp>
      <p:sp>
        <p:nvSpPr>
          <p:cNvPr id="36" name="TextBox 35"/>
          <p:cNvSpPr txBox="1"/>
          <p:nvPr/>
        </p:nvSpPr>
        <p:spPr>
          <a:xfrm>
            <a:off x="9753356" y="6007893"/>
            <a:ext cx="1781130" cy="147637"/>
          </a:xfrm>
          <a:prstGeom prst="rect">
            <a:avLst/>
          </a:prstGeom>
          <a:noFill/>
        </p:spPr>
        <p:txBody>
          <a:bodyPr wrap="square" lIns="0" rIns="0" tIns="0" bIns="0"/>
          <a:lstStyle/>
          <a:p>
            <a:pPr algn="l"/>
            <a:r>
              <a:rPr sz="100" b="0">
                <a:solidFill>
                  <a:srgbClr val="FFFFFF"/>
                </a:solidFill>
                <a:latin typeface="Inter"/>
              </a:rPr>
              <a:t>Tăng trưởng</a:t>
            </a:r>
          </a:p>
        </p:txBody>
      </p:sp>
      <p:sp>
        <p:nvSpPr>
          <p:cNvPr id="37" name="TextBox 36"/>
          <p:cNvSpPr txBox="1"/>
          <p:nvPr/>
        </p:nvSpPr>
        <p:spPr>
          <a:xfrm>
            <a:off x="9753356" y="6174581"/>
            <a:ext cx="1781130" cy="209550"/>
          </a:xfrm>
          <a:prstGeom prst="rect">
            <a:avLst/>
          </a:prstGeom>
          <a:noFill/>
        </p:spPr>
        <p:txBody>
          <a:bodyPr wrap="square" lIns="0" rIns="0" tIns="0" bIns="0"/>
          <a:lstStyle/>
          <a:p>
            <a:pPr algn="l"/>
            <a:r>
              <a:rPr sz="100" b="1">
                <a:solidFill>
                  <a:srgbClr val="FFFFFF"/>
                </a:solidFill>
                <a:latin typeface="Inter"/>
              </a:rPr>
              <a:t>+25%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1190595" y="380999"/>
            <a:ext cx="3463069" cy="481012"/>
          </a:xfrm>
          <a:prstGeom prst="rect">
            <a:avLst/>
          </a:prstGeom>
          <a:noFill/>
        </p:spPr>
        <p:txBody>
          <a:bodyPr wrap="square" lIns="0" rIns="0" tIns="0" bIns="0"/>
          <a:lstStyle/>
          <a:p>
            <a:pPr algn="l"/>
            <a:r>
              <a:rPr sz="100" b="1">
                <a:solidFill>
                  <a:srgbClr val="FFFFFF"/>
                </a:solidFill>
                <a:latin typeface="Inter"/>
              </a:rPr>
              <a:t>Giá trị khác biệt</a:t>
            </a:r>
          </a:p>
        </p:txBody>
      </p:sp>
      <p:sp>
        <p:nvSpPr>
          <p:cNvPr id="4" name="TextBox 3"/>
          <p:cNvSpPr txBox="1"/>
          <p:nvPr/>
        </p:nvSpPr>
        <p:spPr>
          <a:xfrm>
            <a:off x="1190595" y="881062"/>
            <a:ext cx="3463069" cy="233362"/>
          </a:xfrm>
          <a:prstGeom prst="rect">
            <a:avLst/>
          </a:prstGeom>
          <a:noFill/>
        </p:spPr>
        <p:txBody>
          <a:bodyPr wrap="square" lIns="0" rIns="0" tIns="0" bIns="0"/>
          <a:lstStyle/>
          <a:p>
            <a:pPr algn="l"/>
            <a:r>
              <a:rPr sz="100" b="0">
                <a:solidFill>
                  <a:srgbClr val="FFFFFF"/>
                </a:solidFill>
                <a:latin typeface="Inter"/>
              </a:rPr>
              <a:t>Tại sao chọn Quillora? 5 điểm độc đáo</a:t>
            </a:r>
          </a:p>
        </p:txBody>
      </p:sp>
      <p:sp>
        <p:nvSpPr>
          <p:cNvPr id="5" name="TextBox 4"/>
          <p:cNvSpPr txBox="1"/>
          <p:nvPr/>
        </p:nvSpPr>
        <p:spPr>
          <a:xfrm>
            <a:off x="9275555" y="642937"/>
            <a:ext cx="2439901" cy="209550"/>
          </a:xfrm>
          <a:prstGeom prst="rect">
            <a:avLst/>
          </a:prstGeom>
          <a:noFill/>
        </p:spPr>
        <p:txBody>
          <a:bodyPr wrap="square" lIns="0" rIns="0" tIns="0" bIns="0"/>
          <a:lstStyle/>
          <a:p>
            <a:pPr algn="l"/>
            <a:r>
              <a:rPr sz="100" b="0">
                <a:solidFill>
                  <a:srgbClr val="FFFFFF"/>
                </a:solidFill>
                <a:latin typeface="Inter"/>
              </a:rPr>
              <a:t>Ngày hội Đọc sách PTIT 2026</a:t>
            </a:r>
          </a:p>
        </p:txBody>
      </p:sp>
      <p:sp>
        <p:nvSpPr>
          <p:cNvPr id="6" name="TextBox 5"/>
          <p:cNvSpPr txBox="1"/>
          <p:nvPr/>
        </p:nvSpPr>
        <p:spPr>
          <a:xfrm>
            <a:off x="1323941" y="1754534"/>
            <a:ext cx="1009624" cy="434280"/>
          </a:xfrm>
          <a:prstGeom prst="rect">
            <a:avLst/>
          </a:prstGeom>
          <a:noFill/>
        </p:spPr>
        <p:txBody>
          <a:bodyPr wrap="square" lIns="0" rIns="0" tIns="0" bIns="0"/>
          <a:lstStyle/>
          <a:p>
            <a:pPr algn="l"/>
            <a:r>
              <a:rPr sz="100" b="1">
                <a:solidFill>
                  <a:srgbClr val="FFFFFF"/>
                </a:solidFill>
                <a:latin typeface="Inter"/>
              </a:rPr>
              <a:t>Trích dẫn chính xác</a:t>
            </a:r>
          </a:p>
        </p:txBody>
      </p:sp>
      <p:sp>
        <p:nvSpPr>
          <p:cNvPr id="7" name="TextBox 6"/>
          <p:cNvSpPr txBox="1"/>
          <p:nvPr/>
        </p:nvSpPr>
        <p:spPr>
          <a:xfrm>
            <a:off x="714357" y="2390774"/>
            <a:ext cx="1619209" cy="914400"/>
          </a:xfrm>
          <a:prstGeom prst="rect">
            <a:avLst/>
          </a:prstGeom>
          <a:noFill/>
        </p:spPr>
        <p:txBody>
          <a:bodyPr wrap="square" lIns="0" rIns="0" tIns="0" bIns="0"/>
          <a:lstStyle/>
          <a:p>
            <a:pPr algn="l"/>
            <a:r>
              <a:rPr sz="100" b="0">
                <a:solidFill>
                  <a:srgbClr val="FFFFFF"/>
                </a:solidFill>
                <a:latin typeface="Inter"/>
              </a:rPr>
              <a:t>Câu trả lời kèm nguồn gốc (chương/trang), giảm thiểu tối đa ảo giác AI.</a:t>
            </a:r>
          </a:p>
        </p:txBody>
      </p:sp>
      <p:sp>
        <p:nvSpPr>
          <p:cNvPr id="8" name="TextBox 7"/>
          <p:cNvSpPr txBox="1"/>
          <p:nvPr/>
        </p:nvSpPr>
        <p:spPr>
          <a:xfrm>
            <a:off x="714357" y="4681537"/>
            <a:ext cx="1303776" cy="300037"/>
          </a:xfrm>
          <a:prstGeom prst="rect">
            <a:avLst/>
          </a:prstGeom>
          <a:noFill/>
        </p:spPr>
        <p:txBody>
          <a:bodyPr wrap="square" lIns="0" rIns="0" tIns="0" bIns="0"/>
          <a:lstStyle/>
          <a:p>
            <a:pPr algn="l"/>
            <a:r>
              <a:rPr sz="100" b="1">
                <a:solidFill>
                  <a:srgbClr val="FFFFFF"/>
                </a:solidFill>
                <a:latin typeface="Inter"/>
              </a:rPr>
              <a:t>Minh bạch nguồn</a:t>
            </a:r>
          </a:p>
        </p:txBody>
      </p:sp>
      <p:sp>
        <p:nvSpPr>
          <p:cNvPr id="9" name="TextBox 8"/>
          <p:cNvSpPr txBox="1"/>
          <p:nvPr/>
        </p:nvSpPr>
        <p:spPr>
          <a:xfrm>
            <a:off x="3609884" y="1724024"/>
            <a:ext cx="1009624" cy="651420"/>
          </a:xfrm>
          <a:prstGeom prst="rect">
            <a:avLst/>
          </a:prstGeom>
          <a:noFill/>
        </p:spPr>
        <p:txBody>
          <a:bodyPr wrap="square" lIns="0" rIns="0" tIns="0" bIns="0"/>
          <a:lstStyle/>
          <a:p>
            <a:pPr algn="l"/>
            <a:r>
              <a:rPr sz="100" b="1">
                <a:solidFill>
                  <a:srgbClr val="FFFFFF"/>
                </a:solidFill>
                <a:latin typeface="Inter"/>
              </a:rPr>
              <a:t>Phương pháp khoa học</a:t>
            </a:r>
          </a:p>
        </p:txBody>
      </p:sp>
      <p:sp>
        <p:nvSpPr>
          <p:cNvPr id="10" name="TextBox 9"/>
          <p:cNvSpPr txBox="1"/>
          <p:nvPr/>
        </p:nvSpPr>
        <p:spPr>
          <a:xfrm>
            <a:off x="3000299" y="2546895"/>
            <a:ext cx="1619209" cy="685800"/>
          </a:xfrm>
          <a:prstGeom prst="rect">
            <a:avLst/>
          </a:prstGeom>
          <a:noFill/>
        </p:spPr>
        <p:txBody>
          <a:bodyPr wrap="square" lIns="0" rIns="0" tIns="0" bIns="0"/>
          <a:lstStyle/>
          <a:p>
            <a:pPr algn="l"/>
            <a:r>
              <a:rPr sz="100" b="0">
                <a:solidFill>
                  <a:srgbClr val="FFFFFF"/>
                </a:solidFill>
                <a:latin typeface="Inter"/>
              </a:rPr>
              <a:t>Active Recall + Spaced Repetition cho nhớ lâu, học chủ động.</a:t>
            </a:r>
          </a:p>
        </p:txBody>
      </p:sp>
      <p:sp>
        <p:nvSpPr>
          <p:cNvPr id="11" name="TextBox 10"/>
          <p:cNvSpPr txBox="1"/>
          <p:nvPr/>
        </p:nvSpPr>
        <p:spPr>
          <a:xfrm>
            <a:off x="3000299" y="4681537"/>
            <a:ext cx="1375807" cy="300037"/>
          </a:xfrm>
          <a:prstGeom prst="rect">
            <a:avLst/>
          </a:prstGeom>
          <a:noFill/>
        </p:spPr>
        <p:txBody>
          <a:bodyPr wrap="square" lIns="0" rIns="0" tIns="0" bIns="0"/>
          <a:lstStyle/>
          <a:p>
            <a:pPr algn="l"/>
            <a:r>
              <a:rPr sz="100" b="1">
                <a:solidFill>
                  <a:srgbClr val="FFFFFF"/>
                </a:solidFill>
                <a:latin typeface="Inter"/>
              </a:rPr>
              <a:t>Khoa học giáo dục</a:t>
            </a:r>
          </a:p>
        </p:txBody>
      </p:sp>
      <p:sp>
        <p:nvSpPr>
          <p:cNvPr id="12" name="TextBox 11"/>
          <p:cNvSpPr txBox="1"/>
          <p:nvPr/>
        </p:nvSpPr>
        <p:spPr>
          <a:xfrm>
            <a:off x="5895827" y="1754534"/>
            <a:ext cx="1009624" cy="434280"/>
          </a:xfrm>
          <a:prstGeom prst="rect">
            <a:avLst/>
          </a:prstGeom>
          <a:noFill/>
        </p:spPr>
        <p:txBody>
          <a:bodyPr wrap="square" lIns="0" rIns="0" tIns="0" bIns="0"/>
          <a:lstStyle/>
          <a:p>
            <a:pPr algn="l"/>
            <a:r>
              <a:rPr sz="100" b="1">
                <a:solidFill>
                  <a:srgbClr val="FFFFFF"/>
                </a:solidFill>
                <a:latin typeface="Inter"/>
              </a:rPr>
              <a:t>Đa phương thức</a:t>
            </a:r>
          </a:p>
        </p:txBody>
      </p:sp>
      <p:sp>
        <p:nvSpPr>
          <p:cNvPr id="13" name="TextBox 12"/>
          <p:cNvSpPr txBox="1"/>
          <p:nvPr/>
        </p:nvSpPr>
        <p:spPr>
          <a:xfrm>
            <a:off x="5286242" y="2390774"/>
            <a:ext cx="1619209" cy="685800"/>
          </a:xfrm>
          <a:prstGeom prst="rect">
            <a:avLst/>
          </a:prstGeom>
          <a:noFill/>
        </p:spPr>
        <p:txBody>
          <a:bodyPr wrap="square" lIns="0" rIns="0" tIns="0" bIns="0"/>
          <a:lstStyle/>
          <a:p>
            <a:pPr algn="l"/>
            <a:r>
              <a:rPr sz="100" b="0">
                <a:solidFill>
                  <a:srgbClr val="FFFFFF"/>
                </a:solidFill>
                <a:latin typeface="Inter"/>
              </a:rPr>
              <a:t>Tương tác văn bản + giọng nói, linh hoạt theo ngữ cảnh sử dụng.</a:t>
            </a:r>
          </a:p>
        </p:txBody>
      </p:sp>
      <p:sp>
        <p:nvSpPr>
          <p:cNvPr id="14" name="TextBox 13"/>
          <p:cNvSpPr txBox="1"/>
          <p:nvPr/>
        </p:nvSpPr>
        <p:spPr>
          <a:xfrm>
            <a:off x="5286242" y="4681537"/>
            <a:ext cx="1006127" cy="300037"/>
          </a:xfrm>
          <a:prstGeom prst="rect">
            <a:avLst/>
          </a:prstGeom>
          <a:noFill/>
        </p:spPr>
        <p:txBody>
          <a:bodyPr wrap="square" lIns="0" rIns="0" tIns="0" bIns="0"/>
          <a:lstStyle/>
          <a:p>
            <a:pPr algn="l"/>
            <a:r>
              <a:rPr sz="100" b="1">
                <a:solidFill>
                  <a:srgbClr val="FFFFFF"/>
                </a:solidFill>
                <a:latin typeface="Inter"/>
              </a:rPr>
              <a:t>Voice &amp; Text</a:t>
            </a:r>
          </a:p>
        </p:txBody>
      </p:sp>
      <p:sp>
        <p:nvSpPr>
          <p:cNvPr id="15" name="TextBox 14"/>
          <p:cNvSpPr txBox="1"/>
          <p:nvPr/>
        </p:nvSpPr>
        <p:spPr>
          <a:xfrm>
            <a:off x="8181770" y="1754534"/>
            <a:ext cx="1009624" cy="434280"/>
          </a:xfrm>
          <a:prstGeom prst="rect">
            <a:avLst/>
          </a:prstGeom>
          <a:noFill/>
        </p:spPr>
        <p:txBody>
          <a:bodyPr wrap="square" lIns="0" rIns="0" tIns="0" bIns="0"/>
          <a:lstStyle/>
          <a:p>
            <a:pPr algn="l"/>
            <a:r>
              <a:rPr sz="100" b="1">
                <a:solidFill>
                  <a:srgbClr val="FFFFFF"/>
                </a:solidFill>
                <a:latin typeface="Inter"/>
              </a:rPr>
              <a:t>Cá nhân hóa</a:t>
            </a:r>
          </a:p>
        </p:txBody>
      </p:sp>
      <p:sp>
        <p:nvSpPr>
          <p:cNvPr id="16" name="TextBox 15"/>
          <p:cNvSpPr txBox="1"/>
          <p:nvPr/>
        </p:nvSpPr>
        <p:spPr>
          <a:xfrm>
            <a:off x="7572185" y="2390774"/>
            <a:ext cx="1619209" cy="914400"/>
          </a:xfrm>
          <a:prstGeom prst="rect">
            <a:avLst/>
          </a:prstGeom>
          <a:noFill/>
        </p:spPr>
        <p:txBody>
          <a:bodyPr wrap="square" lIns="0" rIns="0" tIns="0" bIns="0"/>
          <a:lstStyle/>
          <a:p>
            <a:pPr algn="l"/>
            <a:r>
              <a:rPr sz="100" b="0">
                <a:solidFill>
                  <a:srgbClr val="FFFFFF"/>
                </a:solidFill>
                <a:latin typeface="Inter"/>
              </a:rPr>
              <a:t>Gợi ý tóm tắt/quiz/flashcard theo mục tiêu học của từng sinh viên.</a:t>
            </a:r>
          </a:p>
        </p:txBody>
      </p:sp>
      <p:sp>
        <p:nvSpPr>
          <p:cNvPr id="17" name="TextBox 16"/>
          <p:cNvSpPr txBox="1"/>
          <p:nvPr/>
        </p:nvSpPr>
        <p:spPr>
          <a:xfrm>
            <a:off x="7572185" y="4681537"/>
            <a:ext cx="1041398" cy="300037"/>
          </a:xfrm>
          <a:prstGeom prst="rect">
            <a:avLst/>
          </a:prstGeom>
          <a:noFill/>
        </p:spPr>
        <p:txBody>
          <a:bodyPr wrap="square" lIns="0" rIns="0" tIns="0" bIns="0"/>
          <a:lstStyle/>
          <a:p>
            <a:pPr algn="l"/>
            <a:r>
              <a:rPr sz="100" b="1">
                <a:solidFill>
                  <a:srgbClr val="FFFFFF"/>
                </a:solidFill>
                <a:latin typeface="Inter"/>
              </a:rPr>
              <a:t>Personalized</a:t>
            </a:r>
          </a:p>
        </p:txBody>
      </p:sp>
      <p:sp>
        <p:nvSpPr>
          <p:cNvPr id="18" name="TextBox 17"/>
          <p:cNvSpPr txBox="1"/>
          <p:nvPr/>
        </p:nvSpPr>
        <p:spPr>
          <a:xfrm>
            <a:off x="10467713" y="1754534"/>
            <a:ext cx="1009624" cy="434280"/>
          </a:xfrm>
          <a:prstGeom prst="rect">
            <a:avLst/>
          </a:prstGeom>
          <a:noFill/>
        </p:spPr>
        <p:txBody>
          <a:bodyPr wrap="square" lIns="0" rIns="0" tIns="0" bIns="0"/>
          <a:lstStyle/>
          <a:p>
            <a:pPr algn="l"/>
            <a:r>
              <a:rPr sz="100" b="1">
                <a:solidFill>
                  <a:srgbClr val="FFFFFF"/>
                </a:solidFill>
                <a:latin typeface="Inter"/>
              </a:rPr>
              <a:t>PTIT Native</a:t>
            </a:r>
          </a:p>
        </p:txBody>
      </p:sp>
      <p:sp>
        <p:nvSpPr>
          <p:cNvPr id="19" name="TextBox 18"/>
          <p:cNvSpPr txBox="1"/>
          <p:nvPr/>
        </p:nvSpPr>
        <p:spPr>
          <a:xfrm>
            <a:off x="9858128" y="2390774"/>
            <a:ext cx="1619209" cy="685800"/>
          </a:xfrm>
          <a:prstGeom prst="rect">
            <a:avLst/>
          </a:prstGeom>
          <a:noFill/>
        </p:spPr>
        <p:txBody>
          <a:bodyPr wrap="square" lIns="0" rIns="0" tIns="0" bIns="0"/>
          <a:lstStyle/>
          <a:p>
            <a:pPr algn="l"/>
            <a:r>
              <a:rPr sz="100" b="0">
                <a:solidFill>
                  <a:srgbClr val="FFFFFF"/>
                </a:solidFill>
                <a:latin typeface="Inter"/>
              </a:rPr>
              <a:t>Đăng nhập @stu.ptit.edu.vn, tích hợp hạ tầng PTIT.</a:t>
            </a:r>
          </a:p>
        </p:txBody>
      </p:sp>
      <p:sp>
        <p:nvSpPr>
          <p:cNvPr id="20" name="TextBox 19"/>
          <p:cNvSpPr txBox="1"/>
          <p:nvPr/>
        </p:nvSpPr>
        <p:spPr>
          <a:xfrm>
            <a:off x="9858128" y="4681537"/>
            <a:ext cx="1332350" cy="300037"/>
          </a:xfrm>
          <a:prstGeom prst="rect">
            <a:avLst/>
          </a:prstGeom>
          <a:noFill/>
        </p:spPr>
        <p:txBody>
          <a:bodyPr wrap="square" lIns="0" rIns="0" tIns="0" bIns="0"/>
          <a:lstStyle/>
          <a:p>
            <a:pPr algn="l"/>
            <a:r>
              <a:rPr sz="100" b="1">
                <a:solidFill>
                  <a:srgbClr val="FFFFFF"/>
                </a:solidFill>
                <a:latin typeface="Inter"/>
              </a:rPr>
              <a:t>Native Integration</a:t>
            </a:r>
          </a:p>
        </p:txBody>
      </p:sp>
      <p:sp>
        <p:nvSpPr>
          <p:cNvPr id="21" name="TextBox 20"/>
          <p:cNvSpPr txBox="1"/>
          <p:nvPr/>
        </p:nvSpPr>
        <p:spPr>
          <a:xfrm>
            <a:off x="1362040" y="5767387"/>
            <a:ext cx="2425614" cy="209550"/>
          </a:xfrm>
          <a:prstGeom prst="rect">
            <a:avLst/>
          </a:prstGeom>
          <a:noFill/>
        </p:spPr>
        <p:txBody>
          <a:bodyPr wrap="square" lIns="0" rIns="0" tIns="0" bIns="0"/>
          <a:lstStyle/>
          <a:p>
            <a:pPr algn="l"/>
            <a:r>
              <a:rPr sz="100" b="1">
                <a:solidFill>
                  <a:srgbClr val="FFFFFF"/>
                </a:solidFill>
                <a:latin typeface="Inter"/>
              </a:rPr>
              <a:t>Chính xác 95%+</a:t>
            </a:r>
          </a:p>
        </p:txBody>
      </p:sp>
      <p:sp>
        <p:nvSpPr>
          <p:cNvPr id="22" name="TextBox 21"/>
          <p:cNvSpPr txBox="1"/>
          <p:nvPr/>
        </p:nvSpPr>
        <p:spPr>
          <a:xfrm>
            <a:off x="1362040" y="6015037"/>
            <a:ext cx="2425614" cy="161924"/>
          </a:xfrm>
          <a:prstGeom prst="rect">
            <a:avLst/>
          </a:prstGeom>
          <a:noFill/>
        </p:spPr>
        <p:txBody>
          <a:bodyPr wrap="square" lIns="0" rIns="0" tIns="0" bIns="0"/>
          <a:lstStyle/>
          <a:p>
            <a:pPr algn="l"/>
            <a:r>
              <a:rPr sz="100" b="0">
                <a:solidFill>
                  <a:srgbClr val="FFFFFF"/>
                </a:solidFill>
                <a:latin typeface="Inter"/>
              </a:rPr>
              <a:t>Trích dẫn chính xác từ nội dung sách</a:t>
            </a:r>
          </a:p>
        </p:txBody>
      </p:sp>
      <p:sp>
        <p:nvSpPr>
          <p:cNvPr id="23" name="TextBox 22"/>
          <p:cNvSpPr txBox="1"/>
          <p:nvPr/>
        </p:nvSpPr>
        <p:spPr>
          <a:xfrm>
            <a:off x="5187795" y="5767387"/>
            <a:ext cx="2425688" cy="209550"/>
          </a:xfrm>
          <a:prstGeom prst="rect">
            <a:avLst/>
          </a:prstGeom>
          <a:noFill/>
        </p:spPr>
        <p:txBody>
          <a:bodyPr wrap="square" lIns="0" rIns="0" tIns="0" bIns="0"/>
          <a:lstStyle/>
          <a:p>
            <a:pPr algn="l"/>
            <a:r>
              <a:rPr sz="100" b="1">
                <a:solidFill>
                  <a:srgbClr val="FFFFFF"/>
                </a:solidFill>
                <a:latin typeface="Inter"/>
              </a:rPr>
              <a:t>Tiết kiệm 60%</a:t>
            </a:r>
          </a:p>
        </p:txBody>
      </p:sp>
      <p:sp>
        <p:nvSpPr>
          <p:cNvPr id="24" name="TextBox 23"/>
          <p:cNvSpPr txBox="1"/>
          <p:nvPr/>
        </p:nvSpPr>
        <p:spPr>
          <a:xfrm>
            <a:off x="5187795" y="6015037"/>
            <a:ext cx="2425688" cy="161924"/>
          </a:xfrm>
          <a:prstGeom prst="rect">
            <a:avLst/>
          </a:prstGeom>
          <a:noFill/>
        </p:spPr>
        <p:txBody>
          <a:bodyPr wrap="square" lIns="0" rIns="0" tIns="0" bIns="0"/>
          <a:lstStyle/>
          <a:p>
            <a:pPr algn="l"/>
            <a:r>
              <a:rPr sz="100" b="0">
                <a:solidFill>
                  <a:srgbClr val="FFFFFF"/>
                </a:solidFill>
                <a:latin typeface="Inter"/>
              </a:rPr>
              <a:t>Thời gian học tập</a:t>
            </a:r>
          </a:p>
        </p:txBody>
      </p:sp>
      <p:sp>
        <p:nvSpPr>
          <p:cNvPr id="25" name="TextBox 24"/>
          <p:cNvSpPr txBox="1"/>
          <p:nvPr/>
        </p:nvSpPr>
        <p:spPr>
          <a:xfrm>
            <a:off x="9013624" y="5767387"/>
            <a:ext cx="2425614" cy="209550"/>
          </a:xfrm>
          <a:prstGeom prst="rect">
            <a:avLst/>
          </a:prstGeom>
          <a:noFill/>
        </p:spPr>
        <p:txBody>
          <a:bodyPr wrap="square" lIns="0" rIns="0" tIns="0" bIns="0"/>
          <a:lstStyle/>
          <a:p>
            <a:pPr algn="l"/>
            <a:r>
              <a:rPr sz="100" b="1">
                <a:solidFill>
                  <a:srgbClr val="FFFFFF"/>
                </a:solidFill>
                <a:latin typeface="Inter"/>
              </a:rPr>
              <a:t>1000+ Users</a:t>
            </a:r>
          </a:p>
        </p:txBody>
      </p:sp>
      <p:sp>
        <p:nvSpPr>
          <p:cNvPr id="26" name="TextBox 25"/>
          <p:cNvSpPr txBox="1"/>
          <p:nvPr/>
        </p:nvSpPr>
        <p:spPr>
          <a:xfrm>
            <a:off x="9013624" y="6015037"/>
            <a:ext cx="2425614" cy="161924"/>
          </a:xfrm>
          <a:prstGeom prst="rect">
            <a:avLst/>
          </a:prstGeom>
          <a:noFill/>
        </p:spPr>
        <p:txBody>
          <a:bodyPr wrap="square" lIns="0" rIns="0" tIns="0" bIns="0"/>
          <a:lstStyle/>
          <a:p>
            <a:pPr algn="l"/>
            <a:r>
              <a:rPr sz="100" b="0">
                <a:solidFill>
                  <a:srgbClr val="FFFFFF"/>
                </a:solidFill>
                <a:latin typeface="Inter"/>
              </a:rPr>
              <a:t>Sinh viên PTIT đang sử dụng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1285842" y="380999"/>
            <a:ext cx="4404160" cy="440010"/>
          </a:xfrm>
          <a:prstGeom prst="rect">
            <a:avLst/>
          </a:prstGeom>
          <a:noFill/>
        </p:spPr>
        <p:txBody>
          <a:bodyPr wrap="square" lIns="0" rIns="0" tIns="0" bIns="0"/>
          <a:lstStyle/>
          <a:p>
            <a:pPr algn="l"/>
            <a:r>
              <a:rPr sz="100" b="1">
                <a:solidFill>
                  <a:srgbClr val="FFFFFF"/>
                </a:solidFill>
                <a:latin typeface="Inter"/>
              </a:rPr>
              <a:t>Tầm nhìn &amp; Lời kêu gọi</a:t>
            </a:r>
          </a:p>
        </p:txBody>
      </p:sp>
      <p:sp>
        <p:nvSpPr>
          <p:cNvPr id="4" name="TextBox 3"/>
          <p:cNvSpPr txBox="1"/>
          <p:nvPr/>
        </p:nvSpPr>
        <p:spPr>
          <a:xfrm>
            <a:off x="1285842" y="821010"/>
            <a:ext cx="4404160" cy="209550"/>
          </a:xfrm>
          <a:prstGeom prst="rect">
            <a:avLst/>
          </a:prstGeom>
          <a:noFill/>
        </p:spPr>
        <p:txBody>
          <a:bodyPr wrap="square" lIns="0" rIns="0" tIns="0" bIns="0"/>
          <a:lstStyle/>
          <a:p>
            <a:pPr algn="l"/>
            <a:r>
              <a:rPr sz="100" b="0">
                <a:solidFill>
                  <a:srgbClr val="FFFFFF"/>
                </a:solidFill>
                <a:latin typeface="Inter"/>
              </a:rPr>
              <a:t>Quillora - Nền tảng đọc sách thông minh cho tương lai</a:t>
            </a:r>
          </a:p>
        </p:txBody>
      </p:sp>
      <p:sp>
        <p:nvSpPr>
          <p:cNvPr id="5" name="TextBox 4"/>
          <p:cNvSpPr txBox="1"/>
          <p:nvPr/>
        </p:nvSpPr>
        <p:spPr>
          <a:xfrm>
            <a:off x="8996286" y="608111"/>
            <a:ext cx="2623923" cy="195262"/>
          </a:xfrm>
          <a:prstGeom prst="rect">
            <a:avLst/>
          </a:prstGeom>
          <a:noFill/>
        </p:spPr>
        <p:txBody>
          <a:bodyPr wrap="square" lIns="0" rIns="0" tIns="0" bIns="0"/>
          <a:lstStyle/>
          <a:p>
            <a:pPr algn="r"/>
            <a:r>
              <a:rPr sz="100" b="0">
                <a:solidFill>
                  <a:srgbClr val="FFFFFF"/>
                </a:solidFill>
                <a:latin typeface="Inter"/>
              </a:rPr>
              <a:t>Ngày hội Đọc sách PTIT 2026</a:t>
            </a:r>
          </a:p>
        </p:txBody>
      </p:sp>
      <p:sp>
        <p:nvSpPr>
          <p:cNvPr id="6" name="TextBox 5"/>
          <p:cNvSpPr txBox="1"/>
          <p:nvPr/>
        </p:nvSpPr>
        <p:spPr>
          <a:xfrm>
            <a:off x="1476338" y="1766366"/>
            <a:ext cx="1123401" cy="300037"/>
          </a:xfrm>
          <a:prstGeom prst="rect">
            <a:avLst/>
          </a:prstGeom>
          <a:noFill/>
        </p:spPr>
        <p:txBody>
          <a:bodyPr wrap="square" lIns="0" rIns="0" tIns="0" bIns="0"/>
          <a:lstStyle/>
          <a:p>
            <a:pPr algn="l"/>
            <a:r>
              <a:rPr sz="100" b="1">
                <a:solidFill>
                  <a:srgbClr val="FFFFFF"/>
                </a:solidFill>
                <a:latin typeface="Inter"/>
              </a:rPr>
              <a:t>Tầm nhìn</a:t>
            </a:r>
          </a:p>
        </p:txBody>
      </p:sp>
      <p:sp>
        <p:nvSpPr>
          <p:cNvPr id="7" name="TextBox 6"/>
          <p:cNvSpPr txBox="1"/>
          <p:nvPr/>
        </p:nvSpPr>
        <p:spPr>
          <a:xfrm>
            <a:off x="1600159" y="2603152"/>
            <a:ext cx="3651629" cy="226665"/>
          </a:xfrm>
          <a:prstGeom prst="rect">
            <a:avLst/>
          </a:prstGeom>
          <a:noFill/>
        </p:spPr>
        <p:txBody>
          <a:bodyPr wrap="square" lIns="0" rIns="0" tIns="0" bIns="0"/>
          <a:lstStyle/>
          <a:p>
            <a:pPr algn="l"/>
            <a:r>
              <a:rPr sz="100" b="0">
                <a:solidFill>
                  <a:srgbClr val="FFFFFF"/>
                </a:solidFill>
                <a:latin typeface="Inter"/>
              </a:rPr>
              <a:t>Mở rộng đến các trường đại học trên toàn quốc</a:t>
            </a:r>
          </a:p>
        </p:txBody>
      </p:sp>
      <p:sp>
        <p:nvSpPr>
          <p:cNvPr id="8" name="TextBox 7"/>
          <p:cNvSpPr txBox="1"/>
          <p:nvPr/>
        </p:nvSpPr>
        <p:spPr>
          <a:xfrm>
            <a:off x="1600159" y="3479452"/>
            <a:ext cx="3351823" cy="226665"/>
          </a:xfrm>
          <a:prstGeom prst="rect">
            <a:avLst/>
          </a:prstGeom>
          <a:noFill/>
        </p:spPr>
        <p:txBody>
          <a:bodyPr wrap="square" lIns="0" rIns="0" tIns="0" bIns="0"/>
          <a:lstStyle/>
          <a:p>
            <a:pPr algn="l"/>
            <a:r>
              <a:rPr sz="100" b="0">
                <a:solidFill>
                  <a:srgbClr val="FFFFFF"/>
                </a:solidFill>
                <a:latin typeface="Inter"/>
              </a:rPr>
              <a:t>Tích hợp doanh nghiệp và tổ chức giáo dục</a:t>
            </a:r>
          </a:p>
        </p:txBody>
      </p:sp>
      <p:sp>
        <p:nvSpPr>
          <p:cNvPr id="9" name="TextBox 8"/>
          <p:cNvSpPr txBox="1"/>
          <p:nvPr/>
        </p:nvSpPr>
        <p:spPr>
          <a:xfrm>
            <a:off x="1600159" y="4297635"/>
            <a:ext cx="3809904" cy="453330"/>
          </a:xfrm>
          <a:prstGeom prst="rect">
            <a:avLst/>
          </a:prstGeom>
          <a:noFill/>
        </p:spPr>
        <p:txBody>
          <a:bodyPr wrap="square" lIns="0" rIns="0" tIns="0" bIns="0"/>
          <a:lstStyle/>
          <a:p>
            <a:pPr algn="l"/>
            <a:r>
              <a:rPr sz="100" b="0">
                <a:solidFill>
                  <a:srgbClr val="FFFFFF"/>
                </a:solidFill>
                <a:latin typeface="Inter"/>
              </a:rPr>
              <a:t>Trở thành nền tảng hàng đầu về đọc sách thông minh</a:t>
            </a:r>
          </a:p>
        </p:txBody>
      </p:sp>
      <p:sp>
        <p:nvSpPr>
          <p:cNvPr id="10" name="TextBox 9"/>
          <p:cNvSpPr txBox="1"/>
          <p:nvPr/>
        </p:nvSpPr>
        <p:spPr>
          <a:xfrm>
            <a:off x="7143571" y="1766366"/>
            <a:ext cx="834235" cy="300037"/>
          </a:xfrm>
          <a:prstGeom prst="rect">
            <a:avLst/>
          </a:prstGeom>
          <a:noFill/>
        </p:spPr>
        <p:txBody>
          <a:bodyPr wrap="square" lIns="0" rIns="0" tIns="0" bIns="0"/>
          <a:lstStyle/>
          <a:p>
            <a:pPr algn="l"/>
            <a:r>
              <a:rPr sz="100" b="1">
                <a:solidFill>
                  <a:srgbClr val="FFFFFF"/>
                </a:solidFill>
                <a:latin typeface="Inter"/>
              </a:rPr>
              <a:t>Impact</a:t>
            </a:r>
          </a:p>
        </p:txBody>
      </p:sp>
      <p:sp>
        <p:nvSpPr>
          <p:cNvPr id="11" name="TextBox 10"/>
          <p:cNvSpPr txBox="1"/>
          <p:nvPr/>
        </p:nvSpPr>
        <p:spPr>
          <a:xfrm>
            <a:off x="7286740" y="2611710"/>
            <a:ext cx="842346" cy="438149"/>
          </a:xfrm>
          <a:prstGeom prst="rect">
            <a:avLst/>
          </a:prstGeom>
          <a:noFill/>
        </p:spPr>
        <p:txBody>
          <a:bodyPr wrap="square" lIns="0" rIns="0" tIns="0" bIns="0"/>
          <a:lstStyle/>
          <a:p>
            <a:pPr algn="ctr"/>
            <a:r>
              <a:rPr sz="100" b="1">
                <a:solidFill>
                  <a:srgbClr val="FFFFFF"/>
                </a:solidFill>
                <a:latin typeface="Inter"/>
              </a:rPr>
              <a:t>85%</a:t>
            </a:r>
          </a:p>
        </p:txBody>
      </p:sp>
      <p:sp>
        <p:nvSpPr>
          <p:cNvPr id="12" name="TextBox 11"/>
          <p:cNvSpPr txBox="1"/>
          <p:nvPr/>
        </p:nvSpPr>
        <p:spPr>
          <a:xfrm>
            <a:off x="7261217" y="3097485"/>
            <a:ext cx="893392" cy="171450"/>
          </a:xfrm>
          <a:prstGeom prst="rect">
            <a:avLst/>
          </a:prstGeom>
          <a:noFill/>
        </p:spPr>
        <p:txBody>
          <a:bodyPr wrap="square" lIns="0" rIns="0" tIns="0" bIns="0"/>
          <a:lstStyle/>
          <a:p>
            <a:pPr algn="ctr"/>
            <a:r>
              <a:rPr sz="100" b="0">
                <a:solidFill>
                  <a:srgbClr val="FFFFFF"/>
                </a:solidFill>
                <a:latin typeface="Inter"/>
              </a:rPr>
              <a:t>Tăng ghi nhớ</a:t>
            </a:r>
          </a:p>
        </p:txBody>
      </p:sp>
      <p:sp>
        <p:nvSpPr>
          <p:cNvPr id="13" name="TextBox 12"/>
          <p:cNvSpPr txBox="1"/>
          <p:nvPr/>
        </p:nvSpPr>
        <p:spPr>
          <a:xfrm>
            <a:off x="9740334" y="2611710"/>
            <a:ext cx="821287" cy="438149"/>
          </a:xfrm>
          <a:prstGeom prst="rect">
            <a:avLst/>
          </a:prstGeom>
          <a:noFill/>
        </p:spPr>
        <p:txBody>
          <a:bodyPr wrap="square" lIns="0" rIns="0" tIns="0" bIns="0"/>
          <a:lstStyle/>
          <a:p>
            <a:pPr algn="ctr"/>
            <a:r>
              <a:rPr sz="100" b="1">
                <a:solidFill>
                  <a:srgbClr val="FFFFFF"/>
                </a:solidFill>
                <a:latin typeface="Inter"/>
              </a:rPr>
              <a:t>79%</a:t>
            </a:r>
          </a:p>
        </p:txBody>
      </p:sp>
      <p:sp>
        <p:nvSpPr>
          <p:cNvPr id="14" name="TextBox 13"/>
          <p:cNvSpPr txBox="1"/>
          <p:nvPr/>
        </p:nvSpPr>
        <p:spPr>
          <a:xfrm>
            <a:off x="9784460" y="3097485"/>
            <a:ext cx="733109" cy="171450"/>
          </a:xfrm>
          <a:prstGeom prst="rect">
            <a:avLst/>
          </a:prstGeom>
          <a:noFill/>
        </p:spPr>
        <p:txBody>
          <a:bodyPr wrap="square" lIns="0" rIns="0" tIns="0" bIns="0"/>
          <a:lstStyle/>
          <a:p>
            <a:pPr algn="ctr"/>
            <a:r>
              <a:rPr sz="100" b="0">
                <a:solidFill>
                  <a:srgbClr val="FFFFFF"/>
                </a:solidFill>
                <a:latin typeface="Inter"/>
              </a:rPr>
              <a:t>Giảm quên</a:t>
            </a:r>
          </a:p>
        </p:txBody>
      </p:sp>
      <p:sp>
        <p:nvSpPr>
          <p:cNvPr id="15" name="TextBox 14"/>
          <p:cNvSpPr txBox="1"/>
          <p:nvPr/>
        </p:nvSpPr>
        <p:spPr>
          <a:xfrm>
            <a:off x="7276694" y="3954735"/>
            <a:ext cx="862437" cy="438149"/>
          </a:xfrm>
          <a:prstGeom prst="rect">
            <a:avLst/>
          </a:prstGeom>
          <a:noFill/>
        </p:spPr>
        <p:txBody>
          <a:bodyPr wrap="square" lIns="0" rIns="0" tIns="0" bIns="0"/>
          <a:lstStyle/>
          <a:p>
            <a:pPr algn="ctr"/>
            <a:r>
              <a:rPr sz="100" b="1">
                <a:solidFill>
                  <a:srgbClr val="FFFFFF"/>
                </a:solidFill>
                <a:latin typeface="Inter"/>
              </a:rPr>
              <a:t>60%</a:t>
            </a:r>
          </a:p>
        </p:txBody>
      </p:sp>
      <p:sp>
        <p:nvSpPr>
          <p:cNvPr id="16" name="TextBox 15"/>
          <p:cNvSpPr txBox="1"/>
          <p:nvPr/>
        </p:nvSpPr>
        <p:spPr>
          <a:xfrm>
            <a:off x="7082404" y="4440510"/>
            <a:ext cx="1251017" cy="171450"/>
          </a:xfrm>
          <a:prstGeom prst="rect">
            <a:avLst/>
          </a:prstGeom>
          <a:noFill/>
        </p:spPr>
        <p:txBody>
          <a:bodyPr wrap="square" lIns="0" rIns="0" tIns="0" bIns="0"/>
          <a:lstStyle/>
          <a:p>
            <a:pPr algn="ctr"/>
            <a:r>
              <a:rPr sz="100" b="0">
                <a:solidFill>
                  <a:srgbClr val="FFFFFF"/>
                </a:solidFill>
                <a:latin typeface="Inter"/>
              </a:rPr>
              <a:t>Tiết kiệm thời gian</a:t>
            </a:r>
          </a:p>
        </p:txBody>
      </p:sp>
      <p:sp>
        <p:nvSpPr>
          <p:cNvPr id="17" name="TextBox 16"/>
          <p:cNvSpPr txBox="1"/>
          <p:nvPr/>
        </p:nvSpPr>
        <p:spPr>
          <a:xfrm>
            <a:off x="9730288" y="3954735"/>
            <a:ext cx="841453" cy="438149"/>
          </a:xfrm>
          <a:prstGeom prst="rect">
            <a:avLst/>
          </a:prstGeom>
          <a:noFill/>
        </p:spPr>
        <p:txBody>
          <a:bodyPr wrap="square" lIns="0" rIns="0" tIns="0" bIns="0"/>
          <a:lstStyle/>
          <a:p>
            <a:pPr algn="ctr"/>
            <a:r>
              <a:rPr sz="100" b="1">
                <a:solidFill>
                  <a:srgbClr val="FFFFFF"/>
                </a:solidFill>
                <a:latin typeface="Inter"/>
              </a:rPr>
              <a:t>95%</a:t>
            </a:r>
          </a:p>
        </p:txBody>
      </p:sp>
      <p:sp>
        <p:nvSpPr>
          <p:cNvPr id="18" name="TextBox 17"/>
          <p:cNvSpPr txBox="1"/>
          <p:nvPr/>
        </p:nvSpPr>
        <p:spPr>
          <a:xfrm>
            <a:off x="9465901" y="4440510"/>
            <a:ext cx="1370151" cy="171450"/>
          </a:xfrm>
          <a:prstGeom prst="rect">
            <a:avLst/>
          </a:prstGeom>
          <a:noFill/>
        </p:spPr>
        <p:txBody>
          <a:bodyPr wrap="square" lIns="0" rIns="0" tIns="0" bIns="0"/>
          <a:lstStyle/>
          <a:p>
            <a:pPr algn="ctr"/>
            <a:r>
              <a:rPr sz="100" b="0">
                <a:solidFill>
                  <a:srgbClr val="FFFFFF"/>
                </a:solidFill>
                <a:latin typeface="Inter"/>
              </a:rPr>
              <a:t>Hài lòng người dùng</a:t>
            </a:r>
          </a:p>
        </p:txBody>
      </p:sp>
      <p:sp>
        <p:nvSpPr>
          <p:cNvPr id="19" name="TextBox 18"/>
          <p:cNvSpPr txBox="1"/>
          <p:nvPr/>
        </p:nvSpPr>
        <p:spPr>
          <a:xfrm>
            <a:off x="1553280" y="5564460"/>
            <a:ext cx="5277387" cy="323849"/>
          </a:xfrm>
          <a:prstGeom prst="rect">
            <a:avLst/>
          </a:prstGeom>
          <a:noFill/>
        </p:spPr>
        <p:txBody>
          <a:bodyPr wrap="square" lIns="0" rIns="0" tIns="0" bIns="0"/>
          <a:lstStyle/>
          <a:p>
            <a:pPr algn="l"/>
            <a:r>
              <a:rPr sz="100" b="1">
                <a:solidFill>
                  <a:srgbClr val="FFFFFF"/>
                </a:solidFill>
                <a:latin typeface="Inter"/>
              </a:rPr>
              <a:t>Tham gia cộng đồng Quillora</a:t>
            </a:r>
          </a:p>
        </p:txBody>
      </p:sp>
      <p:sp>
        <p:nvSpPr>
          <p:cNvPr id="20" name="TextBox 19"/>
          <p:cNvSpPr txBox="1"/>
          <p:nvPr/>
        </p:nvSpPr>
        <p:spPr>
          <a:xfrm>
            <a:off x="1553280" y="5945460"/>
            <a:ext cx="5277387" cy="453330"/>
          </a:xfrm>
          <a:prstGeom prst="rect">
            <a:avLst/>
          </a:prstGeom>
          <a:noFill/>
        </p:spPr>
        <p:txBody>
          <a:bodyPr wrap="square" lIns="0" rIns="0" tIns="0" bIns="0"/>
          <a:lstStyle/>
          <a:p>
            <a:pPr algn="l"/>
            <a:r>
              <a:rPr sz="100" b="0">
                <a:solidFill>
                  <a:srgbClr val="FFFFFF"/>
                </a:solidFill>
                <a:latin typeface="Inter"/>
              </a:rPr>
              <a:t>Trải nghiệm nền tảng đọc sách thông minh, cải thiện thói quen đọc và ghi nhớ hiệu quả cùng hàng ngàn sinh viên khác.</a:t>
            </a:r>
          </a:p>
        </p:txBody>
      </p:sp>
      <p:sp>
        <p:nvSpPr>
          <p:cNvPr id="21" name="TextBox 20"/>
          <p:cNvSpPr txBox="1"/>
          <p:nvPr/>
        </p:nvSpPr>
        <p:spPr>
          <a:xfrm>
            <a:off x="6830668" y="5614913"/>
            <a:ext cx="1956296" cy="733424"/>
          </a:xfrm>
          <a:prstGeom prst="rect">
            <a:avLst/>
          </a:prstGeom>
          <a:noFill/>
        </p:spPr>
        <p:txBody>
          <a:bodyPr wrap="square" lIns="0" rIns="0" tIns="0" bIns="0"/>
          <a:lstStyle/>
          <a:p>
            <a:pPr algn="l"/>
            <a:r>
              <a:rPr sz="100" b="1">
                <a:solidFill>
                  <a:srgbClr val="FFFFFF"/>
                </a:solidFill>
                <a:latin typeface="Inter"/>
              </a:rPr>
              <a:t>Truy cập Quillora</a:t>
            </a:r>
          </a:p>
        </p:txBody>
      </p:sp>
      <p:sp>
        <p:nvSpPr>
          <p:cNvPr id="22" name="TextBox 21"/>
          <p:cNvSpPr txBox="1"/>
          <p:nvPr/>
        </p:nvSpPr>
        <p:spPr>
          <a:xfrm>
            <a:off x="8977460" y="5614913"/>
            <a:ext cx="2252234" cy="733424"/>
          </a:xfrm>
          <a:prstGeom prst="rect">
            <a:avLst/>
          </a:prstGeom>
          <a:noFill/>
        </p:spPr>
        <p:txBody>
          <a:bodyPr wrap="square" lIns="0" rIns="0" tIns="0" bIns="0"/>
          <a:lstStyle/>
          <a:p>
            <a:pPr algn="l"/>
            <a:r>
              <a:rPr sz="100" b="1">
                <a:solidFill>
                  <a:srgbClr val="FFFFFF"/>
                </a:solidFill>
                <a:latin typeface="Inter"/>
              </a:rPr>
              <a:t>Tham gia cộng đồng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